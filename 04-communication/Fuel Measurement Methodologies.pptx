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8" r:id="rId4"/>
    <p:sldId id="288" r:id="rId5"/>
    <p:sldId id="278" r:id="rId6"/>
    <p:sldId id="263" r:id="rId7"/>
    <p:sldId id="260" r:id="rId8"/>
    <p:sldId id="270" r:id="rId9"/>
    <p:sldId id="290" r:id="rId10"/>
    <p:sldId id="291" r:id="rId11"/>
    <p:sldId id="292" r:id="rId12"/>
    <p:sldId id="294" r:id="rId13"/>
    <p:sldId id="266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72" autoAdjust="0"/>
    <p:restoredTop sz="67929" autoAdjust="0"/>
  </p:normalViewPr>
  <p:slideViewPr>
    <p:cSldViewPr snapToGrid="0">
      <p:cViewPr varScale="1">
        <p:scale>
          <a:sx n="58" d="100"/>
          <a:sy n="58" d="100"/>
        </p:scale>
        <p:origin x="133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95BB3-37E6-42B3-A4E4-278FE398146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F4E4800-1946-4BFE-9733-F8B670C9B4C8}">
      <dgm:prSet phldrT="[Text]" custT="1"/>
      <dgm:spPr/>
      <dgm:t>
        <a:bodyPr anchor="t"/>
        <a:lstStyle/>
        <a:p>
          <a:r>
            <a:rPr lang="en-US" sz="2400" dirty="0"/>
            <a:t>Estimate parameters for GLMM</a:t>
          </a:r>
        </a:p>
      </dgm:t>
    </dgm:pt>
    <dgm:pt modelId="{C4C8AE95-89C2-43A2-A7AD-61DF14668CC7}" type="parTrans" cxnId="{D8B4182F-F7F7-4846-BB2A-304C58841F8D}">
      <dgm:prSet/>
      <dgm:spPr/>
      <dgm:t>
        <a:bodyPr/>
        <a:lstStyle/>
        <a:p>
          <a:endParaRPr lang="en-US"/>
        </a:p>
      </dgm:t>
    </dgm:pt>
    <dgm:pt modelId="{0CE0D6F2-7408-4E15-9E52-B27B870F6373}" type="sibTrans" cxnId="{D8B4182F-F7F7-4846-BB2A-304C58841F8D}">
      <dgm:prSet/>
      <dgm:spPr/>
      <dgm:t>
        <a:bodyPr/>
        <a:lstStyle/>
        <a:p>
          <a:endParaRPr lang="en-US"/>
        </a:p>
      </dgm:t>
    </dgm:pt>
    <dgm:pt modelId="{571CDCBA-A937-4446-9DEA-6775C2E726F2}">
      <dgm:prSet phldrT="[Text]" custT="1"/>
      <dgm:spPr/>
      <dgm:t>
        <a:bodyPr anchor="t"/>
        <a:lstStyle/>
        <a:p>
          <a:r>
            <a:rPr lang="en-US" sz="2400" dirty="0"/>
            <a:t>Simulate depths on continuous grid</a:t>
          </a:r>
        </a:p>
      </dgm:t>
    </dgm:pt>
    <dgm:pt modelId="{9E0CE6C4-17BC-4FAE-8283-FA2B52DE0F83}" type="parTrans" cxnId="{6AEC2E8A-A15A-4ED0-8E17-379108833837}">
      <dgm:prSet/>
      <dgm:spPr/>
      <dgm:t>
        <a:bodyPr/>
        <a:lstStyle/>
        <a:p>
          <a:endParaRPr lang="en-US"/>
        </a:p>
      </dgm:t>
    </dgm:pt>
    <dgm:pt modelId="{1C85C27D-12DE-4740-90C5-6B934C45AEBD}" type="sibTrans" cxnId="{6AEC2E8A-A15A-4ED0-8E17-379108833837}">
      <dgm:prSet/>
      <dgm:spPr/>
      <dgm:t>
        <a:bodyPr/>
        <a:lstStyle/>
        <a:p>
          <a:endParaRPr lang="en-US"/>
        </a:p>
      </dgm:t>
    </dgm:pt>
    <dgm:pt modelId="{9161C8B1-D82C-4B4D-A717-75B7ACB5AB68}">
      <dgm:prSet phldrT="[Text]" custT="1"/>
      <dgm:spPr/>
      <dgm:t>
        <a:bodyPr anchor="t"/>
        <a:lstStyle/>
        <a:p>
          <a:r>
            <a:rPr lang="en-US" sz="2400" dirty="0"/>
            <a:t>Allometric equations convert from depth to biomass</a:t>
          </a:r>
          <a:endParaRPr lang="en-US" sz="4400" dirty="0"/>
        </a:p>
      </dgm:t>
    </dgm:pt>
    <dgm:pt modelId="{3B0ACD82-E23A-455C-9B43-BB79CB439381}" type="parTrans" cxnId="{F2CDBBC2-22D5-43AE-9CBE-A74BC36EEE1E}">
      <dgm:prSet/>
      <dgm:spPr/>
      <dgm:t>
        <a:bodyPr/>
        <a:lstStyle/>
        <a:p>
          <a:endParaRPr lang="en-US"/>
        </a:p>
      </dgm:t>
    </dgm:pt>
    <dgm:pt modelId="{149D45F9-C93C-4ABC-AF15-3DFA5A5397B4}" type="sibTrans" cxnId="{F2CDBBC2-22D5-43AE-9CBE-A74BC36EEE1E}">
      <dgm:prSet/>
      <dgm:spPr/>
      <dgm:t>
        <a:bodyPr/>
        <a:lstStyle/>
        <a:p>
          <a:endParaRPr lang="en-US"/>
        </a:p>
      </dgm:t>
    </dgm:pt>
    <dgm:pt modelId="{A4887696-27A4-4CC4-A3E6-96B2F2821B6A}" type="pres">
      <dgm:prSet presAssocID="{06495BB3-37E6-42B3-A4E4-278FE398146E}" presName="Name0" presStyleCnt="0">
        <dgm:presLayoutVars>
          <dgm:dir/>
          <dgm:resizeHandles val="exact"/>
        </dgm:presLayoutVars>
      </dgm:prSet>
      <dgm:spPr/>
    </dgm:pt>
    <dgm:pt modelId="{C8E5C26B-FE5A-4813-9617-9DD4438CB938}" type="pres">
      <dgm:prSet presAssocID="{8F4E4800-1946-4BFE-9733-F8B670C9B4C8}" presName="node" presStyleLbl="node1" presStyleIdx="0" presStyleCnt="3" custScaleY="366314">
        <dgm:presLayoutVars>
          <dgm:bulletEnabled val="1"/>
        </dgm:presLayoutVars>
      </dgm:prSet>
      <dgm:spPr/>
    </dgm:pt>
    <dgm:pt modelId="{19824344-560B-4F0F-8FD7-37E2B124901A}" type="pres">
      <dgm:prSet presAssocID="{0CE0D6F2-7408-4E15-9E52-B27B870F6373}" presName="sibTrans" presStyleLbl="sibTrans2D1" presStyleIdx="0" presStyleCnt="2" custLinFactNeighborX="11853" custLinFactNeighborY="-76"/>
      <dgm:spPr/>
    </dgm:pt>
    <dgm:pt modelId="{2678E188-CC24-43BD-BABA-8A4FE5C91A52}" type="pres">
      <dgm:prSet presAssocID="{0CE0D6F2-7408-4E15-9E52-B27B870F6373}" presName="connectorText" presStyleLbl="sibTrans2D1" presStyleIdx="0" presStyleCnt="2"/>
      <dgm:spPr/>
    </dgm:pt>
    <dgm:pt modelId="{BA299813-846E-4302-9074-A6923A487E26}" type="pres">
      <dgm:prSet presAssocID="{571CDCBA-A937-4446-9DEA-6775C2E726F2}" presName="node" presStyleLbl="node1" presStyleIdx="1" presStyleCnt="3" custScaleY="366314">
        <dgm:presLayoutVars>
          <dgm:bulletEnabled val="1"/>
        </dgm:presLayoutVars>
      </dgm:prSet>
      <dgm:spPr/>
    </dgm:pt>
    <dgm:pt modelId="{33C9DFC7-F7AA-4E7C-9485-3C1E31AE45CA}" type="pres">
      <dgm:prSet presAssocID="{1C85C27D-12DE-4740-90C5-6B934C45AEBD}" presName="sibTrans" presStyleLbl="sibTrans2D1" presStyleIdx="1" presStyleCnt="2" custLinFactNeighborX="13422" custLinFactNeighborY="-76"/>
      <dgm:spPr/>
    </dgm:pt>
    <dgm:pt modelId="{950952B0-A733-4960-AB07-713ADA573FF8}" type="pres">
      <dgm:prSet presAssocID="{1C85C27D-12DE-4740-90C5-6B934C45AEBD}" presName="connectorText" presStyleLbl="sibTrans2D1" presStyleIdx="1" presStyleCnt="2"/>
      <dgm:spPr/>
    </dgm:pt>
    <dgm:pt modelId="{8853593E-C223-441A-AB90-614ED7506EC9}" type="pres">
      <dgm:prSet presAssocID="{9161C8B1-D82C-4B4D-A717-75B7ACB5AB68}" presName="node" presStyleLbl="node1" presStyleIdx="2" presStyleCnt="3" custScaleY="366314">
        <dgm:presLayoutVars>
          <dgm:bulletEnabled val="1"/>
        </dgm:presLayoutVars>
      </dgm:prSet>
      <dgm:spPr/>
    </dgm:pt>
  </dgm:ptLst>
  <dgm:cxnLst>
    <dgm:cxn modelId="{FDE2262E-2D56-4B90-B149-140A057A9451}" type="presOf" srcId="{0CE0D6F2-7408-4E15-9E52-B27B870F6373}" destId="{19824344-560B-4F0F-8FD7-37E2B124901A}" srcOrd="0" destOrd="0" presId="urn:microsoft.com/office/officeart/2005/8/layout/process1"/>
    <dgm:cxn modelId="{D8B4182F-F7F7-4846-BB2A-304C58841F8D}" srcId="{06495BB3-37E6-42B3-A4E4-278FE398146E}" destId="{8F4E4800-1946-4BFE-9733-F8B670C9B4C8}" srcOrd="0" destOrd="0" parTransId="{C4C8AE95-89C2-43A2-A7AD-61DF14668CC7}" sibTransId="{0CE0D6F2-7408-4E15-9E52-B27B870F6373}"/>
    <dgm:cxn modelId="{85529644-16F8-4461-910B-C6C145A0339C}" type="presOf" srcId="{1C85C27D-12DE-4740-90C5-6B934C45AEBD}" destId="{33C9DFC7-F7AA-4E7C-9485-3C1E31AE45CA}" srcOrd="0" destOrd="0" presId="urn:microsoft.com/office/officeart/2005/8/layout/process1"/>
    <dgm:cxn modelId="{610ACC70-8070-4FD9-893E-8D3C221723DC}" type="presOf" srcId="{8F4E4800-1946-4BFE-9733-F8B670C9B4C8}" destId="{C8E5C26B-FE5A-4813-9617-9DD4438CB938}" srcOrd="0" destOrd="0" presId="urn:microsoft.com/office/officeart/2005/8/layout/process1"/>
    <dgm:cxn modelId="{6AEC2E8A-A15A-4ED0-8E17-379108833837}" srcId="{06495BB3-37E6-42B3-A4E4-278FE398146E}" destId="{571CDCBA-A937-4446-9DEA-6775C2E726F2}" srcOrd="1" destOrd="0" parTransId="{9E0CE6C4-17BC-4FAE-8283-FA2B52DE0F83}" sibTransId="{1C85C27D-12DE-4740-90C5-6B934C45AEBD}"/>
    <dgm:cxn modelId="{87DABF9E-36BD-4B21-8F57-E6A2B9598DCB}" type="presOf" srcId="{1C85C27D-12DE-4740-90C5-6B934C45AEBD}" destId="{950952B0-A733-4960-AB07-713ADA573FF8}" srcOrd="1" destOrd="0" presId="urn:microsoft.com/office/officeart/2005/8/layout/process1"/>
    <dgm:cxn modelId="{DBF66FA5-BC7D-4746-8369-B2B6D02B7E16}" type="presOf" srcId="{9161C8B1-D82C-4B4D-A717-75B7ACB5AB68}" destId="{8853593E-C223-441A-AB90-614ED7506EC9}" srcOrd="0" destOrd="0" presId="urn:microsoft.com/office/officeart/2005/8/layout/process1"/>
    <dgm:cxn modelId="{06879CA5-A47C-4C21-BEAD-8C3425B32FE4}" type="presOf" srcId="{571CDCBA-A937-4446-9DEA-6775C2E726F2}" destId="{BA299813-846E-4302-9074-A6923A487E26}" srcOrd="0" destOrd="0" presId="urn:microsoft.com/office/officeart/2005/8/layout/process1"/>
    <dgm:cxn modelId="{F2CDBBC2-22D5-43AE-9CBE-A74BC36EEE1E}" srcId="{06495BB3-37E6-42B3-A4E4-278FE398146E}" destId="{9161C8B1-D82C-4B4D-A717-75B7ACB5AB68}" srcOrd="2" destOrd="0" parTransId="{3B0ACD82-E23A-455C-9B43-BB79CB439381}" sibTransId="{149D45F9-C93C-4ABC-AF15-3DFA5A5397B4}"/>
    <dgm:cxn modelId="{87A9F4C6-C53D-4BCC-A3A5-8C458C10BAE7}" type="presOf" srcId="{06495BB3-37E6-42B3-A4E4-278FE398146E}" destId="{A4887696-27A4-4CC4-A3E6-96B2F2821B6A}" srcOrd="0" destOrd="0" presId="urn:microsoft.com/office/officeart/2005/8/layout/process1"/>
    <dgm:cxn modelId="{1550CDED-BE65-4911-B9E4-8EFF29CD93F1}" type="presOf" srcId="{0CE0D6F2-7408-4E15-9E52-B27B870F6373}" destId="{2678E188-CC24-43BD-BABA-8A4FE5C91A52}" srcOrd="1" destOrd="0" presId="urn:microsoft.com/office/officeart/2005/8/layout/process1"/>
    <dgm:cxn modelId="{ADFA80C2-347B-4B7C-932B-3D7772352C0D}" type="presParOf" srcId="{A4887696-27A4-4CC4-A3E6-96B2F2821B6A}" destId="{C8E5C26B-FE5A-4813-9617-9DD4438CB938}" srcOrd="0" destOrd="0" presId="urn:microsoft.com/office/officeart/2005/8/layout/process1"/>
    <dgm:cxn modelId="{63350E1D-96A7-4ADD-92EB-ECFC9197E4B3}" type="presParOf" srcId="{A4887696-27A4-4CC4-A3E6-96B2F2821B6A}" destId="{19824344-560B-4F0F-8FD7-37E2B124901A}" srcOrd="1" destOrd="0" presId="urn:microsoft.com/office/officeart/2005/8/layout/process1"/>
    <dgm:cxn modelId="{855CC9FF-9570-418A-AB75-9DF844412455}" type="presParOf" srcId="{19824344-560B-4F0F-8FD7-37E2B124901A}" destId="{2678E188-CC24-43BD-BABA-8A4FE5C91A52}" srcOrd="0" destOrd="0" presId="urn:microsoft.com/office/officeart/2005/8/layout/process1"/>
    <dgm:cxn modelId="{E8ED5FA5-10CC-4813-A75C-C9E5A9EF623D}" type="presParOf" srcId="{A4887696-27A4-4CC4-A3E6-96B2F2821B6A}" destId="{BA299813-846E-4302-9074-A6923A487E26}" srcOrd="2" destOrd="0" presId="urn:microsoft.com/office/officeart/2005/8/layout/process1"/>
    <dgm:cxn modelId="{1093A2FC-F964-4F2D-8AC7-48C7A585F575}" type="presParOf" srcId="{A4887696-27A4-4CC4-A3E6-96B2F2821B6A}" destId="{33C9DFC7-F7AA-4E7C-9485-3C1E31AE45CA}" srcOrd="3" destOrd="0" presId="urn:microsoft.com/office/officeart/2005/8/layout/process1"/>
    <dgm:cxn modelId="{0CCF3B57-F4C4-4A77-B9DF-C5D06268DCAB}" type="presParOf" srcId="{33C9DFC7-F7AA-4E7C-9485-3C1E31AE45CA}" destId="{950952B0-A733-4960-AB07-713ADA573FF8}" srcOrd="0" destOrd="0" presId="urn:microsoft.com/office/officeart/2005/8/layout/process1"/>
    <dgm:cxn modelId="{62ECAAB1-2B9C-41E6-85C0-851690FC7B5C}" type="presParOf" srcId="{A4887696-27A4-4CC4-A3E6-96B2F2821B6A}" destId="{8853593E-C223-441A-AB90-614ED7506EC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495BB3-37E6-42B3-A4E4-278FE398146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F4E4800-1946-4BFE-9733-F8B670C9B4C8}">
      <dgm:prSet phldrT="[Text]" custT="1"/>
      <dgm:spPr/>
      <dgm:t>
        <a:bodyPr anchor="t"/>
        <a:lstStyle/>
        <a:p>
          <a:r>
            <a:rPr lang="en-US" sz="2400" dirty="0"/>
            <a:t>Estimate parameters for GLMMs</a:t>
          </a:r>
        </a:p>
      </dgm:t>
    </dgm:pt>
    <dgm:pt modelId="{C4C8AE95-89C2-43A2-A7AD-61DF14668CC7}" type="parTrans" cxnId="{D8B4182F-F7F7-4846-BB2A-304C58841F8D}">
      <dgm:prSet/>
      <dgm:spPr/>
      <dgm:t>
        <a:bodyPr/>
        <a:lstStyle/>
        <a:p>
          <a:endParaRPr lang="en-US"/>
        </a:p>
      </dgm:t>
    </dgm:pt>
    <dgm:pt modelId="{0CE0D6F2-7408-4E15-9E52-B27B870F6373}" type="sibTrans" cxnId="{D8B4182F-F7F7-4846-BB2A-304C58841F8D}">
      <dgm:prSet/>
      <dgm:spPr/>
      <dgm:t>
        <a:bodyPr/>
        <a:lstStyle/>
        <a:p>
          <a:endParaRPr lang="en-US"/>
        </a:p>
      </dgm:t>
    </dgm:pt>
    <dgm:pt modelId="{571CDCBA-A937-4446-9DEA-6775C2E726F2}">
      <dgm:prSet phldrT="[Text]" custT="1"/>
      <dgm:spPr/>
      <dgm:t>
        <a:bodyPr anchor="t"/>
        <a:lstStyle/>
        <a:p>
          <a:r>
            <a:rPr lang="en-US" sz="2400" dirty="0"/>
            <a:t>Simulate counts on continuous grid</a:t>
          </a:r>
        </a:p>
      </dgm:t>
    </dgm:pt>
    <dgm:pt modelId="{9E0CE6C4-17BC-4FAE-8283-FA2B52DE0F83}" type="parTrans" cxnId="{6AEC2E8A-A15A-4ED0-8E17-379108833837}">
      <dgm:prSet/>
      <dgm:spPr/>
      <dgm:t>
        <a:bodyPr/>
        <a:lstStyle/>
        <a:p>
          <a:endParaRPr lang="en-US"/>
        </a:p>
      </dgm:t>
    </dgm:pt>
    <dgm:pt modelId="{1C85C27D-12DE-4740-90C5-6B934C45AEBD}" type="sibTrans" cxnId="{6AEC2E8A-A15A-4ED0-8E17-379108833837}">
      <dgm:prSet/>
      <dgm:spPr/>
      <dgm:t>
        <a:bodyPr/>
        <a:lstStyle/>
        <a:p>
          <a:endParaRPr lang="en-US"/>
        </a:p>
      </dgm:t>
    </dgm:pt>
    <dgm:pt modelId="{9161C8B1-D82C-4B4D-A717-75B7ACB5AB68}">
      <dgm:prSet phldrT="[Text]" custT="1"/>
      <dgm:spPr/>
      <dgm:t>
        <a:bodyPr anchor="t"/>
        <a:lstStyle/>
        <a:p>
          <a:r>
            <a:rPr lang="en-US" sz="2400" dirty="0"/>
            <a:t>Aggregate by size class and convert to biomass</a:t>
          </a:r>
          <a:endParaRPr lang="en-US" sz="4400" dirty="0"/>
        </a:p>
      </dgm:t>
    </dgm:pt>
    <dgm:pt modelId="{3B0ACD82-E23A-455C-9B43-BB79CB439381}" type="parTrans" cxnId="{F2CDBBC2-22D5-43AE-9CBE-A74BC36EEE1E}">
      <dgm:prSet/>
      <dgm:spPr/>
      <dgm:t>
        <a:bodyPr/>
        <a:lstStyle/>
        <a:p>
          <a:endParaRPr lang="en-US"/>
        </a:p>
      </dgm:t>
    </dgm:pt>
    <dgm:pt modelId="{149D45F9-C93C-4ABC-AF15-3DFA5A5397B4}" type="sibTrans" cxnId="{F2CDBBC2-22D5-43AE-9CBE-A74BC36EEE1E}">
      <dgm:prSet/>
      <dgm:spPr/>
      <dgm:t>
        <a:bodyPr/>
        <a:lstStyle/>
        <a:p>
          <a:endParaRPr lang="en-US"/>
        </a:p>
      </dgm:t>
    </dgm:pt>
    <dgm:pt modelId="{33DF9256-1A8E-4851-93F7-12C4450E4AB5}">
      <dgm:prSet phldrT="[Text]" custT="1"/>
      <dgm:spPr/>
      <dgm:t>
        <a:bodyPr anchor="t"/>
        <a:lstStyle/>
        <a:p>
          <a:r>
            <a:rPr lang="en-US" sz="2400" dirty="0"/>
            <a:t>Simulate diameter for each particle</a:t>
          </a:r>
        </a:p>
      </dgm:t>
    </dgm:pt>
    <dgm:pt modelId="{2BD8EC65-6A6E-4393-8D0D-7DC4755CA275}" type="parTrans" cxnId="{35A27C82-192C-45E5-A4DC-44F4748E67F9}">
      <dgm:prSet/>
      <dgm:spPr/>
      <dgm:t>
        <a:bodyPr/>
        <a:lstStyle/>
        <a:p>
          <a:endParaRPr lang="en-US"/>
        </a:p>
      </dgm:t>
    </dgm:pt>
    <dgm:pt modelId="{6C2C4EC2-5E19-4E30-9D27-C50C11DB761D}" type="sibTrans" cxnId="{35A27C82-192C-45E5-A4DC-44F4748E67F9}">
      <dgm:prSet/>
      <dgm:spPr/>
      <dgm:t>
        <a:bodyPr/>
        <a:lstStyle/>
        <a:p>
          <a:endParaRPr lang="en-US"/>
        </a:p>
      </dgm:t>
    </dgm:pt>
    <dgm:pt modelId="{A4887696-27A4-4CC4-A3E6-96B2F2821B6A}" type="pres">
      <dgm:prSet presAssocID="{06495BB3-37E6-42B3-A4E4-278FE398146E}" presName="Name0" presStyleCnt="0">
        <dgm:presLayoutVars>
          <dgm:dir/>
          <dgm:resizeHandles val="exact"/>
        </dgm:presLayoutVars>
      </dgm:prSet>
      <dgm:spPr/>
    </dgm:pt>
    <dgm:pt modelId="{C8E5C26B-FE5A-4813-9617-9DD4438CB938}" type="pres">
      <dgm:prSet presAssocID="{8F4E4800-1946-4BFE-9733-F8B670C9B4C8}" presName="node" presStyleLbl="node1" presStyleIdx="0" presStyleCnt="4" custScaleY="366314">
        <dgm:presLayoutVars>
          <dgm:bulletEnabled val="1"/>
        </dgm:presLayoutVars>
      </dgm:prSet>
      <dgm:spPr/>
    </dgm:pt>
    <dgm:pt modelId="{19824344-560B-4F0F-8FD7-37E2B124901A}" type="pres">
      <dgm:prSet presAssocID="{0CE0D6F2-7408-4E15-9E52-B27B870F6373}" presName="sibTrans" presStyleLbl="sibTrans2D1" presStyleIdx="0" presStyleCnt="3" custLinFactNeighborX="1304" custLinFactNeighborY="1117"/>
      <dgm:spPr/>
    </dgm:pt>
    <dgm:pt modelId="{2678E188-CC24-43BD-BABA-8A4FE5C91A52}" type="pres">
      <dgm:prSet presAssocID="{0CE0D6F2-7408-4E15-9E52-B27B870F6373}" presName="connectorText" presStyleLbl="sibTrans2D1" presStyleIdx="0" presStyleCnt="3"/>
      <dgm:spPr/>
    </dgm:pt>
    <dgm:pt modelId="{BA299813-846E-4302-9074-A6923A487E26}" type="pres">
      <dgm:prSet presAssocID="{571CDCBA-A937-4446-9DEA-6775C2E726F2}" presName="node" presStyleLbl="node1" presStyleIdx="1" presStyleCnt="4" custScaleY="366314">
        <dgm:presLayoutVars>
          <dgm:bulletEnabled val="1"/>
        </dgm:presLayoutVars>
      </dgm:prSet>
      <dgm:spPr/>
    </dgm:pt>
    <dgm:pt modelId="{33C9DFC7-F7AA-4E7C-9485-3C1E31AE45CA}" type="pres">
      <dgm:prSet presAssocID="{1C85C27D-12DE-4740-90C5-6B934C45AEBD}" presName="sibTrans" presStyleLbl="sibTrans2D1" presStyleIdx="1" presStyleCnt="3" custLinFactNeighborX="-13680" custLinFactNeighborY="1117"/>
      <dgm:spPr/>
    </dgm:pt>
    <dgm:pt modelId="{950952B0-A733-4960-AB07-713ADA573FF8}" type="pres">
      <dgm:prSet presAssocID="{1C85C27D-12DE-4740-90C5-6B934C45AEBD}" presName="connectorText" presStyleLbl="sibTrans2D1" presStyleIdx="1" presStyleCnt="3"/>
      <dgm:spPr/>
    </dgm:pt>
    <dgm:pt modelId="{672CF368-42E8-4CF2-8BBD-6F944715AD88}" type="pres">
      <dgm:prSet presAssocID="{33DF9256-1A8E-4851-93F7-12C4450E4AB5}" presName="node" presStyleLbl="node1" presStyleIdx="2" presStyleCnt="4" custScaleY="366314">
        <dgm:presLayoutVars>
          <dgm:bulletEnabled val="1"/>
        </dgm:presLayoutVars>
      </dgm:prSet>
      <dgm:spPr/>
    </dgm:pt>
    <dgm:pt modelId="{E46D9D38-48BE-4DE4-8EAB-95094A87AEA3}" type="pres">
      <dgm:prSet presAssocID="{6C2C4EC2-5E19-4E30-9D27-C50C11DB761D}" presName="sibTrans" presStyleLbl="sibTrans2D1" presStyleIdx="2" presStyleCnt="3" custLinFactNeighborX="-5932" custLinFactNeighborY="1117"/>
      <dgm:spPr/>
    </dgm:pt>
    <dgm:pt modelId="{77F6DB38-FA39-4887-A7CB-7276C7C3AC2B}" type="pres">
      <dgm:prSet presAssocID="{6C2C4EC2-5E19-4E30-9D27-C50C11DB761D}" presName="connectorText" presStyleLbl="sibTrans2D1" presStyleIdx="2" presStyleCnt="3"/>
      <dgm:spPr/>
    </dgm:pt>
    <dgm:pt modelId="{8853593E-C223-441A-AB90-614ED7506EC9}" type="pres">
      <dgm:prSet presAssocID="{9161C8B1-D82C-4B4D-A717-75B7ACB5AB68}" presName="node" presStyleLbl="node1" presStyleIdx="3" presStyleCnt="4" custScaleY="366314">
        <dgm:presLayoutVars>
          <dgm:bulletEnabled val="1"/>
        </dgm:presLayoutVars>
      </dgm:prSet>
      <dgm:spPr/>
    </dgm:pt>
  </dgm:ptLst>
  <dgm:cxnLst>
    <dgm:cxn modelId="{545D121A-761E-44C0-9B3D-88994109249A}" type="presOf" srcId="{6C2C4EC2-5E19-4E30-9D27-C50C11DB761D}" destId="{77F6DB38-FA39-4887-A7CB-7276C7C3AC2B}" srcOrd="1" destOrd="0" presId="urn:microsoft.com/office/officeart/2005/8/layout/process1"/>
    <dgm:cxn modelId="{FDE2262E-2D56-4B90-B149-140A057A9451}" type="presOf" srcId="{0CE0D6F2-7408-4E15-9E52-B27B870F6373}" destId="{19824344-560B-4F0F-8FD7-37E2B124901A}" srcOrd="0" destOrd="0" presId="urn:microsoft.com/office/officeart/2005/8/layout/process1"/>
    <dgm:cxn modelId="{D8B4182F-F7F7-4846-BB2A-304C58841F8D}" srcId="{06495BB3-37E6-42B3-A4E4-278FE398146E}" destId="{8F4E4800-1946-4BFE-9733-F8B670C9B4C8}" srcOrd="0" destOrd="0" parTransId="{C4C8AE95-89C2-43A2-A7AD-61DF14668CC7}" sibTransId="{0CE0D6F2-7408-4E15-9E52-B27B870F6373}"/>
    <dgm:cxn modelId="{85529644-16F8-4461-910B-C6C145A0339C}" type="presOf" srcId="{1C85C27D-12DE-4740-90C5-6B934C45AEBD}" destId="{33C9DFC7-F7AA-4E7C-9485-3C1E31AE45CA}" srcOrd="0" destOrd="0" presId="urn:microsoft.com/office/officeart/2005/8/layout/process1"/>
    <dgm:cxn modelId="{0BE28366-C127-4459-A4D5-8982FD3722D2}" type="presOf" srcId="{33DF9256-1A8E-4851-93F7-12C4450E4AB5}" destId="{672CF368-42E8-4CF2-8BBD-6F944715AD88}" srcOrd="0" destOrd="0" presId="urn:microsoft.com/office/officeart/2005/8/layout/process1"/>
    <dgm:cxn modelId="{610ACC70-8070-4FD9-893E-8D3C221723DC}" type="presOf" srcId="{8F4E4800-1946-4BFE-9733-F8B670C9B4C8}" destId="{C8E5C26B-FE5A-4813-9617-9DD4438CB938}" srcOrd="0" destOrd="0" presId="urn:microsoft.com/office/officeart/2005/8/layout/process1"/>
    <dgm:cxn modelId="{C113887A-4713-4F2F-B412-487D228E8B10}" type="presOf" srcId="{6C2C4EC2-5E19-4E30-9D27-C50C11DB761D}" destId="{E46D9D38-48BE-4DE4-8EAB-95094A87AEA3}" srcOrd="0" destOrd="0" presId="urn:microsoft.com/office/officeart/2005/8/layout/process1"/>
    <dgm:cxn modelId="{35A27C82-192C-45E5-A4DC-44F4748E67F9}" srcId="{06495BB3-37E6-42B3-A4E4-278FE398146E}" destId="{33DF9256-1A8E-4851-93F7-12C4450E4AB5}" srcOrd="2" destOrd="0" parTransId="{2BD8EC65-6A6E-4393-8D0D-7DC4755CA275}" sibTransId="{6C2C4EC2-5E19-4E30-9D27-C50C11DB761D}"/>
    <dgm:cxn modelId="{6AEC2E8A-A15A-4ED0-8E17-379108833837}" srcId="{06495BB3-37E6-42B3-A4E4-278FE398146E}" destId="{571CDCBA-A937-4446-9DEA-6775C2E726F2}" srcOrd="1" destOrd="0" parTransId="{9E0CE6C4-17BC-4FAE-8283-FA2B52DE0F83}" sibTransId="{1C85C27D-12DE-4740-90C5-6B934C45AEBD}"/>
    <dgm:cxn modelId="{87DABF9E-36BD-4B21-8F57-E6A2B9598DCB}" type="presOf" srcId="{1C85C27D-12DE-4740-90C5-6B934C45AEBD}" destId="{950952B0-A733-4960-AB07-713ADA573FF8}" srcOrd="1" destOrd="0" presId="urn:microsoft.com/office/officeart/2005/8/layout/process1"/>
    <dgm:cxn modelId="{DBF66FA5-BC7D-4746-8369-B2B6D02B7E16}" type="presOf" srcId="{9161C8B1-D82C-4B4D-A717-75B7ACB5AB68}" destId="{8853593E-C223-441A-AB90-614ED7506EC9}" srcOrd="0" destOrd="0" presId="urn:microsoft.com/office/officeart/2005/8/layout/process1"/>
    <dgm:cxn modelId="{06879CA5-A47C-4C21-BEAD-8C3425B32FE4}" type="presOf" srcId="{571CDCBA-A937-4446-9DEA-6775C2E726F2}" destId="{BA299813-846E-4302-9074-A6923A487E26}" srcOrd="0" destOrd="0" presId="urn:microsoft.com/office/officeart/2005/8/layout/process1"/>
    <dgm:cxn modelId="{F2CDBBC2-22D5-43AE-9CBE-A74BC36EEE1E}" srcId="{06495BB3-37E6-42B3-A4E4-278FE398146E}" destId="{9161C8B1-D82C-4B4D-A717-75B7ACB5AB68}" srcOrd="3" destOrd="0" parTransId="{3B0ACD82-E23A-455C-9B43-BB79CB439381}" sibTransId="{149D45F9-C93C-4ABC-AF15-3DFA5A5397B4}"/>
    <dgm:cxn modelId="{87A9F4C6-C53D-4BCC-A3A5-8C458C10BAE7}" type="presOf" srcId="{06495BB3-37E6-42B3-A4E4-278FE398146E}" destId="{A4887696-27A4-4CC4-A3E6-96B2F2821B6A}" srcOrd="0" destOrd="0" presId="urn:microsoft.com/office/officeart/2005/8/layout/process1"/>
    <dgm:cxn modelId="{1550CDED-BE65-4911-B9E4-8EFF29CD93F1}" type="presOf" srcId="{0CE0D6F2-7408-4E15-9E52-B27B870F6373}" destId="{2678E188-CC24-43BD-BABA-8A4FE5C91A52}" srcOrd="1" destOrd="0" presId="urn:microsoft.com/office/officeart/2005/8/layout/process1"/>
    <dgm:cxn modelId="{ADFA80C2-347B-4B7C-932B-3D7772352C0D}" type="presParOf" srcId="{A4887696-27A4-4CC4-A3E6-96B2F2821B6A}" destId="{C8E5C26B-FE5A-4813-9617-9DD4438CB938}" srcOrd="0" destOrd="0" presId="urn:microsoft.com/office/officeart/2005/8/layout/process1"/>
    <dgm:cxn modelId="{63350E1D-96A7-4ADD-92EB-ECFC9197E4B3}" type="presParOf" srcId="{A4887696-27A4-4CC4-A3E6-96B2F2821B6A}" destId="{19824344-560B-4F0F-8FD7-37E2B124901A}" srcOrd="1" destOrd="0" presId="urn:microsoft.com/office/officeart/2005/8/layout/process1"/>
    <dgm:cxn modelId="{855CC9FF-9570-418A-AB75-9DF844412455}" type="presParOf" srcId="{19824344-560B-4F0F-8FD7-37E2B124901A}" destId="{2678E188-CC24-43BD-BABA-8A4FE5C91A52}" srcOrd="0" destOrd="0" presId="urn:microsoft.com/office/officeart/2005/8/layout/process1"/>
    <dgm:cxn modelId="{E8ED5FA5-10CC-4813-A75C-C9E5A9EF623D}" type="presParOf" srcId="{A4887696-27A4-4CC4-A3E6-96B2F2821B6A}" destId="{BA299813-846E-4302-9074-A6923A487E26}" srcOrd="2" destOrd="0" presId="urn:microsoft.com/office/officeart/2005/8/layout/process1"/>
    <dgm:cxn modelId="{1093A2FC-F964-4F2D-8AC7-48C7A585F575}" type="presParOf" srcId="{A4887696-27A4-4CC4-A3E6-96B2F2821B6A}" destId="{33C9DFC7-F7AA-4E7C-9485-3C1E31AE45CA}" srcOrd="3" destOrd="0" presId="urn:microsoft.com/office/officeart/2005/8/layout/process1"/>
    <dgm:cxn modelId="{0CCF3B57-F4C4-4A77-B9DF-C5D06268DCAB}" type="presParOf" srcId="{33C9DFC7-F7AA-4E7C-9485-3C1E31AE45CA}" destId="{950952B0-A733-4960-AB07-713ADA573FF8}" srcOrd="0" destOrd="0" presId="urn:microsoft.com/office/officeart/2005/8/layout/process1"/>
    <dgm:cxn modelId="{C6CC28E6-A630-445D-8C62-96CCC7B04D9D}" type="presParOf" srcId="{A4887696-27A4-4CC4-A3E6-96B2F2821B6A}" destId="{672CF368-42E8-4CF2-8BBD-6F944715AD88}" srcOrd="4" destOrd="0" presId="urn:microsoft.com/office/officeart/2005/8/layout/process1"/>
    <dgm:cxn modelId="{8F966788-A201-44E7-83F0-1BCD611E404E}" type="presParOf" srcId="{A4887696-27A4-4CC4-A3E6-96B2F2821B6A}" destId="{E46D9D38-48BE-4DE4-8EAB-95094A87AEA3}" srcOrd="5" destOrd="0" presId="urn:microsoft.com/office/officeart/2005/8/layout/process1"/>
    <dgm:cxn modelId="{1D943910-C793-49B4-BA7D-686867C9CABB}" type="presParOf" srcId="{E46D9D38-48BE-4DE4-8EAB-95094A87AEA3}" destId="{77F6DB38-FA39-4887-A7CB-7276C7C3AC2B}" srcOrd="0" destOrd="0" presId="urn:microsoft.com/office/officeart/2005/8/layout/process1"/>
    <dgm:cxn modelId="{62ECAAB1-2B9C-41E6-85C0-851690FC7B5C}" type="presParOf" srcId="{A4887696-27A4-4CC4-A3E6-96B2F2821B6A}" destId="{8853593E-C223-441A-AB90-614ED7506EC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495BB3-37E6-42B3-A4E4-278FE398146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F4E4800-1946-4BFE-9733-F8B670C9B4C8}">
      <dgm:prSet phldrT="[Text]" custT="1"/>
      <dgm:spPr/>
      <dgm:t>
        <a:bodyPr anchor="t"/>
        <a:lstStyle/>
        <a:p>
          <a:r>
            <a:rPr lang="en-US" sz="2400" dirty="0"/>
            <a:t>Estimate parameters for GLMM</a:t>
          </a:r>
        </a:p>
      </dgm:t>
    </dgm:pt>
    <dgm:pt modelId="{C4C8AE95-89C2-43A2-A7AD-61DF14668CC7}" type="parTrans" cxnId="{D8B4182F-F7F7-4846-BB2A-304C58841F8D}">
      <dgm:prSet/>
      <dgm:spPr/>
      <dgm:t>
        <a:bodyPr/>
        <a:lstStyle/>
        <a:p>
          <a:endParaRPr lang="en-US"/>
        </a:p>
      </dgm:t>
    </dgm:pt>
    <dgm:pt modelId="{0CE0D6F2-7408-4E15-9E52-B27B870F6373}" type="sibTrans" cxnId="{D8B4182F-F7F7-4846-BB2A-304C58841F8D}">
      <dgm:prSet/>
      <dgm:spPr/>
      <dgm:t>
        <a:bodyPr/>
        <a:lstStyle/>
        <a:p>
          <a:endParaRPr lang="en-US"/>
        </a:p>
      </dgm:t>
    </dgm:pt>
    <dgm:pt modelId="{571CDCBA-A937-4446-9DEA-6775C2E726F2}">
      <dgm:prSet phldrT="[Text]" custT="1"/>
      <dgm:spPr/>
      <dgm:t>
        <a:bodyPr anchor="t"/>
        <a:lstStyle/>
        <a:p>
          <a:r>
            <a:rPr lang="en-US" sz="2400" dirty="0"/>
            <a:t>Simulate presences on continuous grid</a:t>
          </a:r>
        </a:p>
      </dgm:t>
    </dgm:pt>
    <dgm:pt modelId="{9E0CE6C4-17BC-4FAE-8283-FA2B52DE0F83}" type="parTrans" cxnId="{6AEC2E8A-A15A-4ED0-8E17-379108833837}">
      <dgm:prSet/>
      <dgm:spPr/>
      <dgm:t>
        <a:bodyPr/>
        <a:lstStyle/>
        <a:p>
          <a:endParaRPr lang="en-US"/>
        </a:p>
      </dgm:t>
    </dgm:pt>
    <dgm:pt modelId="{1C85C27D-12DE-4740-90C5-6B934C45AEBD}" type="sibTrans" cxnId="{6AEC2E8A-A15A-4ED0-8E17-379108833837}">
      <dgm:prSet/>
      <dgm:spPr/>
      <dgm:t>
        <a:bodyPr/>
        <a:lstStyle/>
        <a:p>
          <a:endParaRPr lang="en-US"/>
        </a:p>
      </dgm:t>
    </dgm:pt>
    <dgm:pt modelId="{9161C8B1-D82C-4B4D-A717-75B7ACB5AB68}">
      <dgm:prSet phldrT="[Text]" custT="1"/>
      <dgm:spPr/>
      <dgm:t>
        <a:bodyPr anchor="t"/>
        <a:lstStyle/>
        <a:p>
          <a:r>
            <a:rPr lang="en-US" sz="2400" dirty="0"/>
            <a:t>Distribute biomass into voxels</a:t>
          </a:r>
          <a:endParaRPr lang="en-US" sz="4400" dirty="0"/>
        </a:p>
      </dgm:t>
    </dgm:pt>
    <dgm:pt modelId="{3B0ACD82-E23A-455C-9B43-BB79CB439381}" type="parTrans" cxnId="{F2CDBBC2-22D5-43AE-9CBE-A74BC36EEE1E}">
      <dgm:prSet/>
      <dgm:spPr/>
      <dgm:t>
        <a:bodyPr/>
        <a:lstStyle/>
        <a:p>
          <a:endParaRPr lang="en-US"/>
        </a:p>
      </dgm:t>
    </dgm:pt>
    <dgm:pt modelId="{149D45F9-C93C-4ABC-AF15-3DFA5A5397B4}" type="sibTrans" cxnId="{F2CDBBC2-22D5-43AE-9CBE-A74BC36EEE1E}">
      <dgm:prSet/>
      <dgm:spPr/>
      <dgm:t>
        <a:bodyPr/>
        <a:lstStyle/>
        <a:p>
          <a:endParaRPr lang="en-US"/>
        </a:p>
      </dgm:t>
    </dgm:pt>
    <dgm:pt modelId="{33DF9256-1A8E-4851-93F7-12C4450E4AB5}">
      <dgm:prSet phldrT="[Text]" custT="1"/>
      <dgm:spPr/>
      <dgm:t>
        <a:bodyPr anchor="t"/>
        <a:lstStyle/>
        <a:p>
          <a:r>
            <a:rPr lang="en-US" sz="2400" dirty="0"/>
            <a:t>Draw pixel characteristics from observed data</a:t>
          </a:r>
        </a:p>
      </dgm:t>
    </dgm:pt>
    <dgm:pt modelId="{2BD8EC65-6A6E-4393-8D0D-7DC4755CA275}" type="parTrans" cxnId="{35A27C82-192C-45E5-A4DC-44F4748E67F9}">
      <dgm:prSet/>
      <dgm:spPr/>
      <dgm:t>
        <a:bodyPr/>
        <a:lstStyle/>
        <a:p>
          <a:endParaRPr lang="en-US"/>
        </a:p>
      </dgm:t>
    </dgm:pt>
    <dgm:pt modelId="{6C2C4EC2-5E19-4E30-9D27-C50C11DB761D}" type="sibTrans" cxnId="{35A27C82-192C-45E5-A4DC-44F4748E67F9}">
      <dgm:prSet/>
      <dgm:spPr/>
      <dgm:t>
        <a:bodyPr/>
        <a:lstStyle/>
        <a:p>
          <a:endParaRPr lang="en-US"/>
        </a:p>
      </dgm:t>
    </dgm:pt>
    <dgm:pt modelId="{A4887696-27A4-4CC4-A3E6-96B2F2821B6A}" type="pres">
      <dgm:prSet presAssocID="{06495BB3-37E6-42B3-A4E4-278FE398146E}" presName="Name0" presStyleCnt="0">
        <dgm:presLayoutVars>
          <dgm:dir/>
          <dgm:resizeHandles val="exact"/>
        </dgm:presLayoutVars>
      </dgm:prSet>
      <dgm:spPr/>
    </dgm:pt>
    <dgm:pt modelId="{C8E5C26B-FE5A-4813-9617-9DD4438CB938}" type="pres">
      <dgm:prSet presAssocID="{8F4E4800-1946-4BFE-9733-F8B670C9B4C8}" presName="node" presStyleLbl="node1" presStyleIdx="0" presStyleCnt="4" custScaleY="366314">
        <dgm:presLayoutVars>
          <dgm:bulletEnabled val="1"/>
        </dgm:presLayoutVars>
      </dgm:prSet>
      <dgm:spPr/>
    </dgm:pt>
    <dgm:pt modelId="{19824344-560B-4F0F-8FD7-37E2B124901A}" type="pres">
      <dgm:prSet presAssocID="{0CE0D6F2-7408-4E15-9E52-B27B870F6373}" presName="sibTrans" presStyleLbl="sibTrans2D1" presStyleIdx="0" presStyleCnt="3" custLinFactNeighborX="1164" custLinFactNeighborY="11893"/>
      <dgm:spPr/>
    </dgm:pt>
    <dgm:pt modelId="{2678E188-CC24-43BD-BABA-8A4FE5C91A52}" type="pres">
      <dgm:prSet presAssocID="{0CE0D6F2-7408-4E15-9E52-B27B870F6373}" presName="connectorText" presStyleLbl="sibTrans2D1" presStyleIdx="0" presStyleCnt="3"/>
      <dgm:spPr/>
    </dgm:pt>
    <dgm:pt modelId="{BA299813-846E-4302-9074-A6923A487E26}" type="pres">
      <dgm:prSet presAssocID="{571CDCBA-A937-4446-9DEA-6775C2E726F2}" presName="node" presStyleLbl="node1" presStyleIdx="1" presStyleCnt="4" custScaleY="366314">
        <dgm:presLayoutVars>
          <dgm:bulletEnabled val="1"/>
        </dgm:presLayoutVars>
      </dgm:prSet>
      <dgm:spPr/>
    </dgm:pt>
    <dgm:pt modelId="{33C9DFC7-F7AA-4E7C-9485-3C1E31AE45CA}" type="pres">
      <dgm:prSet presAssocID="{1C85C27D-12DE-4740-90C5-6B934C45AEBD}" presName="sibTrans" presStyleLbl="sibTrans2D1" presStyleIdx="1" presStyleCnt="3" custLinFactNeighborX="-13820" custLinFactNeighborY="11893"/>
      <dgm:spPr/>
    </dgm:pt>
    <dgm:pt modelId="{950952B0-A733-4960-AB07-713ADA573FF8}" type="pres">
      <dgm:prSet presAssocID="{1C85C27D-12DE-4740-90C5-6B934C45AEBD}" presName="connectorText" presStyleLbl="sibTrans2D1" presStyleIdx="1" presStyleCnt="3"/>
      <dgm:spPr/>
    </dgm:pt>
    <dgm:pt modelId="{672CF368-42E8-4CF2-8BBD-6F944715AD88}" type="pres">
      <dgm:prSet presAssocID="{33DF9256-1A8E-4851-93F7-12C4450E4AB5}" presName="node" presStyleLbl="node1" presStyleIdx="2" presStyleCnt="4" custScaleY="366314">
        <dgm:presLayoutVars>
          <dgm:bulletEnabled val="1"/>
        </dgm:presLayoutVars>
      </dgm:prSet>
      <dgm:spPr/>
    </dgm:pt>
    <dgm:pt modelId="{E46D9D38-48BE-4DE4-8EAB-95094A87AEA3}" type="pres">
      <dgm:prSet presAssocID="{6C2C4EC2-5E19-4E30-9D27-C50C11DB761D}" presName="sibTrans" presStyleLbl="sibTrans2D1" presStyleIdx="2" presStyleCnt="3" custLinFactNeighborX="-6072" custLinFactNeighborY="11893"/>
      <dgm:spPr/>
    </dgm:pt>
    <dgm:pt modelId="{77F6DB38-FA39-4887-A7CB-7276C7C3AC2B}" type="pres">
      <dgm:prSet presAssocID="{6C2C4EC2-5E19-4E30-9D27-C50C11DB761D}" presName="connectorText" presStyleLbl="sibTrans2D1" presStyleIdx="2" presStyleCnt="3"/>
      <dgm:spPr/>
    </dgm:pt>
    <dgm:pt modelId="{8853593E-C223-441A-AB90-614ED7506EC9}" type="pres">
      <dgm:prSet presAssocID="{9161C8B1-D82C-4B4D-A717-75B7ACB5AB68}" presName="node" presStyleLbl="node1" presStyleIdx="3" presStyleCnt="4" custScaleY="366314">
        <dgm:presLayoutVars>
          <dgm:bulletEnabled val="1"/>
        </dgm:presLayoutVars>
      </dgm:prSet>
      <dgm:spPr/>
    </dgm:pt>
  </dgm:ptLst>
  <dgm:cxnLst>
    <dgm:cxn modelId="{545D121A-761E-44C0-9B3D-88994109249A}" type="presOf" srcId="{6C2C4EC2-5E19-4E30-9D27-C50C11DB761D}" destId="{77F6DB38-FA39-4887-A7CB-7276C7C3AC2B}" srcOrd="1" destOrd="0" presId="urn:microsoft.com/office/officeart/2005/8/layout/process1"/>
    <dgm:cxn modelId="{FDE2262E-2D56-4B90-B149-140A057A9451}" type="presOf" srcId="{0CE0D6F2-7408-4E15-9E52-B27B870F6373}" destId="{19824344-560B-4F0F-8FD7-37E2B124901A}" srcOrd="0" destOrd="0" presId="urn:microsoft.com/office/officeart/2005/8/layout/process1"/>
    <dgm:cxn modelId="{D8B4182F-F7F7-4846-BB2A-304C58841F8D}" srcId="{06495BB3-37E6-42B3-A4E4-278FE398146E}" destId="{8F4E4800-1946-4BFE-9733-F8B670C9B4C8}" srcOrd="0" destOrd="0" parTransId="{C4C8AE95-89C2-43A2-A7AD-61DF14668CC7}" sibTransId="{0CE0D6F2-7408-4E15-9E52-B27B870F6373}"/>
    <dgm:cxn modelId="{85529644-16F8-4461-910B-C6C145A0339C}" type="presOf" srcId="{1C85C27D-12DE-4740-90C5-6B934C45AEBD}" destId="{33C9DFC7-F7AA-4E7C-9485-3C1E31AE45CA}" srcOrd="0" destOrd="0" presId="urn:microsoft.com/office/officeart/2005/8/layout/process1"/>
    <dgm:cxn modelId="{0BE28366-C127-4459-A4D5-8982FD3722D2}" type="presOf" srcId="{33DF9256-1A8E-4851-93F7-12C4450E4AB5}" destId="{672CF368-42E8-4CF2-8BBD-6F944715AD88}" srcOrd="0" destOrd="0" presId="urn:microsoft.com/office/officeart/2005/8/layout/process1"/>
    <dgm:cxn modelId="{610ACC70-8070-4FD9-893E-8D3C221723DC}" type="presOf" srcId="{8F4E4800-1946-4BFE-9733-F8B670C9B4C8}" destId="{C8E5C26B-FE5A-4813-9617-9DD4438CB938}" srcOrd="0" destOrd="0" presId="urn:microsoft.com/office/officeart/2005/8/layout/process1"/>
    <dgm:cxn modelId="{C113887A-4713-4F2F-B412-487D228E8B10}" type="presOf" srcId="{6C2C4EC2-5E19-4E30-9D27-C50C11DB761D}" destId="{E46D9D38-48BE-4DE4-8EAB-95094A87AEA3}" srcOrd="0" destOrd="0" presId="urn:microsoft.com/office/officeart/2005/8/layout/process1"/>
    <dgm:cxn modelId="{35A27C82-192C-45E5-A4DC-44F4748E67F9}" srcId="{06495BB3-37E6-42B3-A4E4-278FE398146E}" destId="{33DF9256-1A8E-4851-93F7-12C4450E4AB5}" srcOrd="2" destOrd="0" parTransId="{2BD8EC65-6A6E-4393-8D0D-7DC4755CA275}" sibTransId="{6C2C4EC2-5E19-4E30-9D27-C50C11DB761D}"/>
    <dgm:cxn modelId="{6AEC2E8A-A15A-4ED0-8E17-379108833837}" srcId="{06495BB3-37E6-42B3-A4E4-278FE398146E}" destId="{571CDCBA-A937-4446-9DEA-6775C2E726F2}" srcOrd="1" destOrd="0" parTransId="{9E0CE6C4-17BC-4FAE-8283-FA2B52DE0F83}" sibTransId="{1C85C27D-12DE-4740-90C5-6B934C45AEBD}"/>
    <dgm:cxn modelId="{87DABF9E-36BD-4B21-8F57-E6A2B9598DCB}" type="presOf" srcId="{1C85C27D-12DE-4740-90C5-6B934C45AEBD}" destId="{950952B0-A733-4960-AB07-713ADA573FF8}" srcOrd="1" destOrd="0" presId="urn:microsoft.com/office/officeart/2005/8/layout/process1"/>
    <dgm:cxn modelId="{DBF66FA5-BC7D-4746-8369-B2B6D02B7E16}" type="presOf" srcId="{9161C8B1-D82C-4B4D-A717-75B7ACB5AB68}" destId="{8853593E-C223-441A-AB90-614ED7506EC9}" srcOrd="0" destOrd="0" presId="urn:microsoft.com/office/officeart/2005/8/layout/process1"/>
    <dgm:cxn modelId="{06879CA5-A47C-4C21-BEAD-8C3425B32FE4}" type="presOf" srcId="{571CDCBA-A937-4446-9DEA-6775C2E726F2}" destId="{BA299813-846E-4302-9074-A6923A487E26}" srcOrd="0" destOrd="0" presId="urn:microsoft.com/office/officeart/2005/8/layout/process1"/>
    <dgm:cxn modelId="{F2CDBBC2-22D5-43AE-9CBE-A74BC36EEE1E}" srcId="{06495BB3-37E6-42B3-A4E4-278FE398146E}" destId="{9161C8B1-D82C-4B4D-A717-75B7ACB5AB68}" srcOrd="3" destOrd="0" parTransId="{3B0ACD82-E23A-455C-9B43-BB79CB439381}" sibTransId="{149D45F9-C93C-4ABC-AF15-3DFA5A5397B4}"/>
    <dgm:cxn modelId="{87A9F4C6-C53D-4BCC-A3A5-8C458C10BAE7}" type="presOf" srcId="{06495BB3-37E6-42B3-A4E4-278FE398146E}" destId="{A4887696-27A4-4CC4-A3E6-96B2F2821B6A}" srcOrd="0" destOrd="0" presId="urn:microsoft.com/office/officeart/2005/8/layout/process1"/>
    <dgm:cxn modelId="{1550CDED-BE65-4911-B9E4-8EFF29CD93F1}" type="presOf" srcId="{0CE0D6F2-7408-4E15-9E52-B27B870F6373}" destId="{2678E188-CC24-43BD-BABA-8A4FE5C91A52}" srcOrd="1" destOrd="0" presId="urn:microsoft.com/office/officeart/2005/8/layout/process1"/>
    <dgm:cxn modelId="{ADFA80C2-347B-4B7C-932B-3D7772352C0D}" type="presParOf" srcId="{A4887696-27A4-4CC4-A3E6-96B2F2821B6A}" destId="{C8E5C26B-FE5A-4813-9617-9DD4438CB938}" srcOrd="0" destOrd="0" presId="urn:microsoft.com/office/officeart/2005/8/layout/process1"/>
    <dgm:cxn modelId="{63350E1D-96A7-4ADD-92EB-ECFC9197E4B3}" type="presParOf" srcId="{A4887696-27A4-4CC4-A3E6-96B2F2821B6A}" destId="{19824344-560B-4F0F-8FD7-37E2B124901A}" srcOrd="1" destOrd="0" presId="urn:microsoft.com/office/officeart/2005/8/layout/process1"/>
    <dgm:cxn modelId="{855CC9FF-9570-418A-AB75-9DF844412455}" type="presParOf" srcId="{19824344-560B-4F0F-8FD7-37E2B124901A}" destId="{2678E188-CC24-43BD-BABA-8A4FE5C91A52}" srcOrd="0" destOrd="0" presId="urn:microsoft.com/office/officeart/2005/8/layout/process1"/>
    <dgm:cxn modelId="{E8ED5FA5-10CC-4813-A75C-C9E5A9EF623D}" type="presParOf" srcId="{A4887696-27A4-4CC4-A3E6-96B2F2821B6A}" destId="{BA299813-846E-4302-9074-A6923A487E26}" srcOrd="2" destOrd="0" presId="urn:microsoft.com/office/officeart/2005/8/layout/process1"/>
    <dgm:cxn modelId="{1093A2FC-F964-4F2D-8AC7-48C7A585F575}" type="presParOf" srcId="{A4887696-27A4-4CC4-A3E6-96B2F2821B6A}" destId="{33C9DFC7-F7AA-4E7C-9485-3C1E31AE45CA}" srcOrd="3" destOrd="0" presId="urn:microsoft.com/office/officeart/2005/8/layout/process1"/>
    <dgm:cxn modelId="{0CCF3B57-F4C4-4A77-B9DF-C5D06268DCAB}" type="presParOf" srcId="{33C9DFC7-F7AA-4E7C-9485-3C1E31AE45CA}" destId="{950952B0-A733-4960-AB07-713ADA573FF8}" srcOrd="0" destOrd="0" presId="urn:microsoft.com/office/officeart/2005/8/layout/process1"/>
    <dgm:cxn modelId="{C6CC28E6-A630-445D-8C62-96CCC7B04D9D}" type="presParOf" srcId="{A4887696-27A4-4CC4-A3E6-96B2F2821B6A}" destId="{672CF368-42E8-4CF2-8BBD-6F944715AD88}" srcOrd="4" destOrd="0" presId="urn:microsoft.com/office/officeart/2005/8/layout/process1"/>
    <dgm:cxn modelId="{8F966788-A201-44E7-83F0-1BCD611E404E}" type="presParOf" srcId="{A4887696-27A4-4CC4-A3E6-96B2F2821B6A}" destId="{E46D9D38-48BE-4DE4-8EAB-95094A87AEA3}" srcOrd="5" destOrd="0" presId="urn:microsoft.com/office/officeart/2005/8/layout/process1"/>
    <dgm:cxn modelId="{1D943910-C793-49B4-BA7D-686867C9CABB}" type="presParOf" srcId="{E46D9D38-48BE-4DE4-8EAB-95094A87AEA3}" destId="{77F6DB38-FA39-4887-A7CB-7276C7C3AC2B}" srcOrd="0" destOrd="0" presId="urn:microsoft.com/office/officeart/2005/8/layout/process1"/>
    <dgm:cxn modelId="{62ECAAB1-2B9C-41E6-85C0-851690FC7B5C}" type="presParOf" srcId="{A4887696-27A4-4CC4-A3E6-96B2F2821B6A}" destId="{8853593E-C223-441A-AB90-614ED7506EC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495BB3-37E6-42B3-A4E4-278FE398146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F4E4800-1946-4BFE-9733-F8B670C9B4C8}">
      <dgm:prSet phldrT="[Text]" custT="1"/>
      <dgm:spPr/>
      <dgm:t>
        <a:bodyPr anchor="t"/>
        <a:lstStyle/>
        <a:p>
          <a:r>
            <a:rPr lang="en-US" sz="2400" dirty="0"/>
            <a:t>Estimate parameters for GLMMs</a:t>
          </a:r>
        </a:p>
      </dgm:t>
    </dgm:pt>
    <dgm:pt modelId="{C4C8AE95-89C2-43A2-A7AD-61DF14668CC7}" type="parTrans" cxnId="{D8B4182F-F7F7-4846-BB2A-304C58841F8D}">
      <dgm:prSet/>
      <dgm:spPr/>
      <dgm:t>
        <a:bodyPr/>
        <a:lstStyle/>
        <a:p>
          <a:endParaRPr lang="en-US"/>
        </a:p>
      </dgm:t>
    </dgm:pt>
    <dgm:pt modelId="{0CE0D6F2-7408-4E15-9E52-B27B870F6373}" type="sibTrans" cxnId="{D8B4182F-F7F7-4846-BB2A-304C58841F8D}">
      <dgm:prSet/>
      <dgm:spPr/>
      <dgm:t>
        <a:bodyPr/>
        <a:lstStyle/>
        <a:p>
          <a:endParaRPr lang="en-US"/>
        </a:p>
      </dgm:t>
    </dgm:pt>
    <dgm:pt modelId="{571CDCBA-A937-4446-9DEA-6775C2E726F2}">
      <dgm:prSet phldrT="[Text]" custT="1"/>
      <dgm:spPr/>
      <dgm:t>
        <a:bodyPr anchor="t"/>
        <a:lstStyle/>
        <a:p>
          <a:r>
            <a:rPr lang="en-US" sz="2400" dirty="0"/>
            <a:t>Simulate presences on continuous grid</a:t>
          </a:r>
        </a:p>
      </dgm:t>
    </dgm:pt>
    <dgm:pt modelId="{9E0CE6C4-17BC-4FAE-8283-FA2B52DE0F83}" type="parTrans" cxnId="{6AEC2E8A-A15A-4ED0-8E17-379108833837}">
      <dgm:prSet/>
      <dgm:spPr/>
      <dgm:t>
        <a:bodyPr/>
        <a:lstStyle/>
        <a:p>
          <a:endParaRPr lang="en-US"/>
        </a:p>
      </dgm:t>
    </dgm:pt>
    <dgm:pt modelId="{1C85C27D-12DE-4740-90C5-6B934C45AEBD}" type="sibTrans" cxnId="{6AEC2E8A-A15A-4ED0-8E17-379108833837}">
      <dgm:prSet/>
      <dgm:spPr/>
      <dgm:t>
        <a:bodyPr/>
        <a:lstStyle/>
        <a:p>
          <a:endParaRPr lang="en-US"/>
        </a:p>
      </dgm:t>
    </dgm:pt>
    <dgm:pt modelId="{9161C8B1-D82C-4B4D-A717-75B7ACB5AB68}">
      <dgm:prSet phldrT="[Text]" custT="1"/>
      <dgm:spPr/>
      <dgm:t>
        <a:bodyPr anchor="t"/>
        <a:lstStyle/>
        <a:p>
          <a:r>
            <a:rPr lang="en-US" sz="2400" dirty="0"/>
            <a:t>Distribute biomass into voxels</a:t>
          </a:r>
          <a:endParaRPr lang="en-US" sz="4400" dirty="0"/>
        </a:p>
      </dgm:t>
    </dgm:pt>
    <dgm:pt modelId="{3B0ACD82-E23A-455C-9B43-BB79CB439381}" type="parTrans" cxnId="{F2CDBBC2-22D5-43AE-9CBE-A74BC36EEE1E}">
      <dgm:prSet/>
      <dgm:spPr/>
      <dgm:t>
        <a:bodyPr/>
        <a:lstStyle/>
        <a:p>
          <a:endParaRPr lang="en-US"/>
        </a:p>
      </dgm:t>
    </dgm:pt>
    <dgm:pt modelId="{149D45F9-C93C-4ABC-AF15-3DFA5A5397B4}" type="sibTrans" cxnId="{F2CDBBC2-22D5-43AE-9CBE-A74BC36EEE1E}">
      <dgm:prSet/>
      <dgm:spPr/>
      <dgm:t>
        <a:bodyPr/>
        <a:lstStyle/>
        <a:p>
          <a:endParaRPr lang="en-US"/>
        </a:p>
      </dgm:t>
    </dgm:pt>
    <dgm:pt modelId="{33DF9256-1A8E-4851-93F7-12C4450E4AB5}">
      <dgm:prSet phldrT="[Text]" custT="1"/>
      <dgm:spPr/>
      <dgm:t>
        <a:bodyPr anchor="t"/>
        <a:lstStyle/>
        <a:p>
          <a:r>
            <a:rPr lang="en-US" sz="2400" dirty="0"/>
            <a:t>Draw stem characteristics from observed data</a:t>
          </a:r>
        </a:p>
      </dgm:t>
    </dgm:pt>
    <dgm:pt modelId="{2BD8EC65-6A6E-4393-8D0D-7DC4755CA275}" type="parTrans" cxnId="{35A27C82-192C-45E5-A4DC-44F4748E67F9}">
      <dgm:prSet/>
      <dgm:spPr/>
      <dgm:t>
        <a:bodyPr/>
        <a:lstStyle/>
        <a:p>
          <a:endParaRPr lang="en-US"/>
        </a:p>
      </dgm:t>
    </dgm:pt>
    <dgm:pt modelId="{6C2C4EC2-5E19-4E30-9D27-C50C11DB761D}" type="sibTrans" cxnId="{35A27C82-192C-45E5-A4DC-44F4748E67F9}">
      <dgm:prSet/>
      <dgm:spPr/>
      <dgm:t>
        <a:bodyPr/>
        <a:lstStyle/>
        <a:p>
          <a:endParaRPr lang="en-US"/>
        </a:p>
      </dgm:t>
    </dgm:pt>
    <dgm:pt modelId="{A4887696-27A4-4CC4-A3E6-96B2F2821B6A}" type="pres">
      <dgm:prSet presAssocID="{06495BB3-37E6-42B3-A4E4-278FE398146E}" presName="Name0" presStyleCnt="0">
        <dgm:presLayoutVars>
          <dgm:dir/>
          <dgm:resizeHandles val="exact"/>
        </dgm:presLayoutVars>
      </dgm:prSet>
      <dgm:spPr/>
    </dgm:pt>
    <dgm:pt modelId="{C8E5C26B-FE5A-4813-9617-9DD4438CB938}" type="pres">
      <dgm:prSet presAssocID="{8F4E4800-1946-4BFE-9733-F8B670C9B4C8}" presName="node" presStyleLbl="node1" presStyleIdx="0" presStyleCnt="4" custScaleY="366314">
        <dgm:presLayoutVars>
          <dgm:bulletEnabled val="1"/>
        </dgm:presLayoutVars>
      </dgm:prSet>
      <dgm:spPr/>
    </dgm:pt>
    <dgm:pt modelId="{19824344-560B-4F0F-8FD7-37E2B124901A}" type="pres">
      <dgm:prSet presAssocID="{0CE0D6F2-7408-4E15-9E52-B27B870F6373}" presName="sibTrans" presStyleLbl="sibTrans2D1" presStyleIdx="0" presStyleCnt="3" custLinFactNeighborX="12460" custLinFactNeighborY="9244"/>
      <dgm:spPr/>
    </dgm:pt>
    <dgm:pt modelId="{2678E188-CC24-43BD-BABA-8A4FE5C91A52}" type="pres">
      <dgm:prSet presAssocID="{0CE0D6F2-7408-4E15-9E52-B27B870F6373}" presName="connectorText" presStyleLbl="sibTrans2D1" presStyleIdx="0" presStyleCnt="3"/>
      <dgm:spPr/>
    </dgm:pt>
    <dgm:pt modelId="{BA299813-846E-4302-9074-A6923A487E26}" type="pres">
      <dgm:prSet presAssocID="{571CDCBA-A937-4446-9DEA-6775C2E726F2}" presName="node" presStyleLbl="node1" presStyleIdx="1" presStyleCnt="4" custScaleY="366314">
        <dgm:presLayoutVars>
          <dgm:bulletEnabled val="1"/>
        </dgm:presLayoutVars>
      </dgm:prSet>
      <dgm:spPr/>
    </dgm:pt>
    <dgm:pt modelId="{33C9DFC7-F7AA-4E7C-9485-3C1E31AE45CA}" type="pres">
      <dgm:prSet presAssocID="{1C85C27D-12DE-4740-90C5-6B934C45AEBD}" presName="sibTrans" presStyleLbl="sibTrans2D1" presStyleIdx="1" presStyleCnt="3" custLinFactNeighborX="-2524" custLinFactNeighborY="9244"/>
      <dgm:spPr/>
    </dgm:pt>
    <dgm:pt modelId="{950952B0-A733-4960-AB07-713ADA573FF8}" type="pres">
      <dgm:prSet presAssocID="{1C85C27D-12DE-4740-90C5-6B934C45AEBD}" presName="connectorText" presStyleLbl="sibTrans2D1" presStyleIdx="1" presStyleCnt="3"/>
      <dgm:spPr/>
    </dgm:pt>
    <dgm:pt modelId="{672CF368-42E8-4CF2-8BBD-6F944715AD88}" type="pres">
      <dgm:prSet presAssocID="{33DF9256-1A8E-4851-93F7-12C4450E4AB5}" presName="node" presStyleLbl="node1" presStyleIdx="2" presStyleCnt="4" custScaleY="366314">
        <dgm:presLayoutVars>
          <dgm:bulletEnabled val="1"/>
        </dgm:presLayoutVars>
      </dgm:prSet>
      <dgm:spPr/>
    </dgm:pt>
    <dgm:pt modelId="{E46D9D38-48BE-4DE4-8EAB-95094A87AEA3}" type="pres">
      <dgm:prSet presAssocID="{6C2C4EC2-5E19-4E30-9D27-C50C11DB761D}" presName="sibTrans" presStyleLbl="sibTrans2D1" presStyleIdx="2" presStyleCnt="3" custAng="491746" custLinFactNeighborX="6423" custLinFactNeighborY="-47114"/>
      <dgm:spPr/>
    </dgm:pt>
    <dgm:pt modelId="{77F6DB38-FA39-4887-A7CB-7276C7C3AC2B}" type="pres">
      <dgm:prSet presAssocID="{6C2C4EC2-5E19-4E30-9D27-C50C11DB761D}" presName="connectorText" presStyleLbl="sibTrans2D1" presStyleIdx="2" presStyleCnt="3"/>
      <dgm:spPr/>
    </dgm:pt>
    <dgm:pt modelId="{8853593E-C223-441A-AB90-614ED7506EC9}" type="pres">
      <dgm:prSet presAssocID="{9161C8B1-D82C-4B4D-A717-75B7ACB5AB68}" presName="node" presStyleLbl="node1" presStyleIdx="3" presStyleCnt="4" custScaleY="208794" custLinFactNeighborX="711" custLinFactNeighborY="-91700">
        <dgm:presLayoutVars>
          <dgm:bulletEnabled val="1"/>
        </dgm:presLayoutVars>
      </dgm:prSet>
      <dgm:spPr/>
    </dgm:pt>
  </dgm:ptLst>
  <dgm:cxnLst>
    <dgm:cxn modelId="{545D121A-761E-44C0-9B3D-88994109249A}" type="presOf" srcId="{6C2C4EC2-5E19-4E30-9D27-C50C11DB761D}" destId="{77F6DB38-FA39-4887-A7CB-7276C7C3AC2B}" srcOrd="1" destOrd="0" presId="urn:microsoft.com/office/officeart/2005/8/layout/process1"/>
    <dgm:cxn modelId="{FDE2262E-2D56-4B90-B149-140A057A9451}" type="presOf" srcId="{0CE0D6F2-7408-4E15-9E52-B27B870F6373}" destId="{19824344-560B-4F0F-8FD7-37E2B124901A}" srcOrd="0" destOrd="0" presId="urn:microsoft.com/office/officeart/2005/8/layout/process1"/>
    <dgm:cxn modelId="{D8B4182F-F7F7-4846-BB2A-304C58841F8D}" srcId="{06495BB3-37E6-42B3-A4E4-278FE398146E}" destId="{8F4E4800-1946-4BFE-9733-F8B670C9B4C8}" srcOrd="0" destOrd="0" parTransId="{C4C8AE95-89C2-43A2-A7AD-61DF14668CC7}" sibTransId="{0CE0D6F2-7408-4E15-9E52-B27B870F6373}"/>
    <dgm:cxn modelId="{85529644-16F8-4461-910B-C6C145A0339C}" type="presOf" srcId="{1C85C27D-12DE-4740-90C5-6B934C45AEBD}" destId="{33C9DFC7-F7AA-4E7C-9485-3C1E31AE45CA}" srcOrd="0" destOrd="0" presId="urn:microsoft.com/office/officeart/2005/8/layout/process1"/>
    <dgm:cxn modelId="{0BE28366-C127-4459-A4D5-8982FD3722D2}" type="presOf" srcId="{33DF9256-1A8E-4851-93F7-12C4450E4AB5}" destId="{672CF368-42E8-4CF2-8BBD-6F944715AD88}" srcOrd="0" destOrd="0" presId="urn:microsoft.com/office/officeart/2005/8/layout/process1"/>
    <dgm:cxn modelId="{610ACC70-8070-4FD9-893E-8D3C221723DC}" type="presOf" srcId="{8F4E4800-1946-4BFE-9733-F8B670C9B4C8}" destId="{C8E5C26B-FE5A-4813-9617-9DD4438CB938}" srcOrd="0" destOrd="0" presId="urn:microsoft.com/office/officeart/2005/8/layout/process1"/>
    <dgm:cxn modelId="{C113887A-4713-4F2F-B412-487D228E8B10}" type="presOf" srcId="{6C2C4EC2-5E19-4E30-9D27-C50C11DB761D}" destId="{E46D9D38-48BE-4DE4-8EAB-95094A87AEA3}" srcOrd="0" destOrd="0" presId="urn:microsoft.com/office/officeart/2005/8/layout/process1"/>
    <dgm:cxn modelId="{35A27C82-192C-45E5-A4DC-44F4748E67F9}" srcId="{06495BB3-37E6-42B3-A4E4-278FE398146E}" destId="{33DF9256-1A8E-4851-93F7-12C4450E4AB5}" srcOrd="2" destOrd="0" parTransId="{2BD8EC65-6A6E-4393-8D0D-7DC4755CA275}" sibTransId="{6C2C4EC2-5E19-4E30-9D27-C50C11DB761D}"/>
    <dgm:cxn modelId="{6AEC2E8A-A15A-4ED0-8E17-379108833837}" srcId="{06495BB3-37E6-42B3-A4E4-278FE398146E}" destId="{571CDCBA-A937-4446-9DEA-6775C2E726F2}" srcOrd="1" destOrd="0" parTransId="{9E0CE6C4-17BC-4FAE-8283-FA2B52DE0F83}" sibTransId="{1C85C27D-12DE-4740-90C5-6B934C45AEBD}"/>
    <dgm:cxn modelId="{87DABF9E-36BD-4B21-8F57-E6A2B9598DCB}" type="presOf" srcId="{1C85C27D-12DE-4740-90C5-6B934C45AEBD}" destId="{950952B0-A733-4960-AB07-713ADA573FF8}" srcOrd="1" destOrd="0" presId="urn:microsoft.com/office/officeart/2005/8/layout/process1"/>
    <dgm:cxn modelId="{DBF66FA5-BC7D-4746-8369-B2B6D02B7E16}" type="presOf" srcId="{9161C8B1-D82C-4B4D-A717-75B7ACB5AB68}" destId="{8853593E-C223-441A-AB90-614ED7506EC9}" srcOrd="0" destOrd="0" presId="urn:microsoft.com/office/officeart/2005/8/layout/process1"/>
    <dgm:cxn modelId="{06879CA5-A47C-4C21-BEAD-8C3425B32FE4}" type="presOf" srcId="{571CDCBA-A937-4446-9DEA-6775C2E726F2}" destId="{BA299813-846E-4302-9074-A6923A487E26}" srcOrd="0" destOrd="0" presId="urn:microsoft.com/office/officeart/2005/8/layout/process1"/>
    <dgm:cxn modelId="{F2CDBBC2-22D5-43AE-9CBE-A74BC36EEE1E}" srcId="{06495BB3-37E6-42B3-A4E4-278FE398146E}" destId="{9161C8B1-D82C-4B4D-A717-75B7ACB5AB68}" srcOrd="3" destOrd="0" parTransId="{3B0ACD82-E23A-455C-9B43-BB79CB439381}" sibTransId="{149D45F9-C93C-4ABC-AF15-3DFA5A5397B4}"/>
    <dgm:cxn modelId="{87A9F4C6-C53D-4BCC-A3A5-8C458C10BAE7}" type="presOf" srcId="{06495BB3-37E6-42B3-A4E4-278FE398146E}" destId="{A4887696-27A4-4CC4-A3E6-96B2F2821B6A}" srcOrd="0" destOrd="0" presId="urn:microsoft.com/office/officeart/2005/8/layout/process1"/>
    <dgm:cxn modelId="{1550CDED-BE65-4911-B9E4-8EFF29CD93F1}" type="presOf" srcId="{0CE0D6F2-7408-4E15-9E52-B27B870F6373}" destId="{2678E188-CC24-43BD-BABA-8A4FE5C91A52}" srcOrd="1" destOrd="0" presId="urn:microsoft.com/office/officeart/2005/8/layout/process1"/>
    <dgm:cxn modelId="{ADFA80C2-347B-4B7C-932B-3D7772352C0D}" type="presParOf" srcId="{A4887696-27A4-4CC4-A3E6-96B2F2821B6A}" destId="{C8E5C26B-FE5A-4813-9617-9DD4438CB938}" srcOrd="0" destOrd="0" presId="urn:microsoft.com/office/officeart/2005/8/layout/process1"/>
    <dgm:cxn modelId="{63350E1D-96A7-4ADD-92EB-ECFC9197E4B3}" type="presParOf" srcId="{A4887696-27A4-4CC4-A3E6-96B2F2821B6A}" destId="{19824344-560B-4F0F-8FD7-37E2B124901A}" srcOrd="1" destOrd="0" presId="urn:microsoft.com/office/officeart/2005/8/layout/process1"/>
    <dgm:cxn modelId="{855CC9FF-9570-418A-AB75-9DF844412455}" type="presParOf" srcId="{19824344-560B-4F0F-8FD7-37E2B124901A}" destId="{2678E188-CC24-43BD-BABA-8A4FE5C91A52}" srcOrd="0" destOrd="0" presId="urn:microsoft.com/office/officeart/2005/8/layout/process1"/>
    <dgm:cxn modelId="{E8ED5FA5-10CC-4813-A75C-C9E5A9EF623D}" type="presParOf" srcId="{A4887696-27A4-4CC4-A3E6-96B2F2821B6A}" destId="{BA299813-846E-4302-9074-A6923A487E26}" srcOrd="2" destOrd="0" presId="urn:microsoft.com/office/officeart/2005/8/layout/process1"/>
    <dgm:cxn modelId="{1093A2FC-F964-4F2D-8AC7-48C7A585F575}" type="presParOf" srcId="{A4887696-27A4-4CC4-A3E6-96B2F2821B6A}" destId="{33C9DFC7-F7AA-4E7C-9485-3C1E31AE45CA}" srcOrd="3" destOrd="0" presId="urn:microsoft.com/office/officeart/2005/8/layout/process1"/>
    <dgm:cxn modelId="{0CCF3B57-F4C4-4A77-B9DF-C5D06268DCAB}" type="presParOf" srcId="{33C9DFC7-F7AA-4E7C-9485-3C1E31AE45CA}" destId="{950952B0-A733-4960-AB07-713ADA573FF8}" srcOrd="0" destOrd="0" presId="urn:microsoft.com/office/officeart/2005/8/layout/process1"/>
    <dgm:cxn modelId="{C6CC28E6-A630-445D-8C62-96CCC7B04D9D}" type="presParOf" srcId="{A4887696-27A4-4CC4-A3E6-96B2F2821B6A}" destId="{672CF368-42E8-4CF2-8BBD-6F944715AD88}" srcOrd="4" destOrd="0" presId="urn:microsoft.com/office/officeart/2005/8/layout/process1"/>
    <dgm:cxn modelId="{8F966788-A201-44E7-83F0-1BCD611E404E}" type="presParOf" srcId="{A4887696-27A4-4CC4-A3E6-96B2F2821B6A}" destId="{E46D9D38-48BE-4DE4-8EAB-95094A87AEA3}" srcOrd="5" destOrd="0" presId="urn:microsoft.com/office/officeart/2005/8/layout/process1"/>
    <dgm:cxn modelId="{1D943910-C793-49B4-BA7D-686867C9CABB}" type="presParOf" srcId="{E46D9D38-48BE-4DE4-8EAB-95094A87AEA3}" destId="{77F6DB38-FA39-4887-A7CB-7276C7C3AC2B}" srcOrd="0" destOrd="0" presId="urn:microsoft.com/office/officeart/2005/8/layout/process1"/>
    <dgm:cxn modelId="{62ECAAB1-2B9C-41E6-85C0-851690FC7B5C}" type="presParOf" srcId="{A4887696-27A4-4CC4-A3E6-96B2F2821B6A}" destId="{8853593E-C223-441A-AB90-614ED7506EC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5C26B-FE5A-4813-9617-9DD4438CB938}">
      <dsp:nvSpPr>
        <dsp:cNvPr id="0" name=""/>
        <dsp:cNvSpPr/>
      </dsp:nvSpPr>
      <dsp:spPr>
        <a:xfrm>
          <a:off x="9935" y="0"/>
          <a:ext cx="2969535" cy="1345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Estimate parameters for GLMM</a:t>
          </a:r>
        </a:p>
      </dsp:txBody>
      <dsp:txXfrm>
        <a:off x="49331" y="39396"/>
        <a:ext cx="2890743" cy="1266303"/>
      </dsp:txXfrm>
    </dsp:sp>
    <dsp:sp modelId="{19824344-560B-4F0F-8FD7-37E2B124901A}">
      <dsp:nvSpPr>
        <dsp:cNvPr id="0" name=""/>
        <dsp:cNvSpPr/>
      </dsp:nvSpPr>
      <dsp:spPr>
        <a:xfrm>
          <a:off x="3351043" y="303765"/>
          <a:ext cx="629541" cy="7364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351043" y="451054"/>
        <a:ext cx="440679" cy="441866"/>
      </dsp:txXfrm>
    </dsp:sp>
    <dsp:sp modelId="{BA299813-846E-4302-9074-A6923A487E26}">
      <dsp:nvSpPr>
        <dsp:cNvPr id="0" name=""/>
        <dsp:cNvSpPr/>
      </dsp:nvSpPr>
      <dsp:spPr>
        <a:xfrm>
          <a:off x="4167284" y="0"/>
          <a:ext cx="2969535" cy="1345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Simulate depths on continuous grid</a:t>
          </a:r>
        </a:p>
      </dsp:txBody>
      <dsp:txXfrm>
        <a:off x="4206680" y="39396"/>
        <a:ext cx="2890743" cy="1266303"/>
      </dsp:txXfrm>
    </dsp:sp>
    <dsp:sp modelId="{33C9DFC7-F7AA-4E7C-9485-3C1E31AE45CA}">
      <dsp:nvSpPr>
        <dsp:cNvPr id="0" name=""/>
        <dsp:cNvSpPr/>
      </dsp:nvSpPr>
      <dsp:spPr>
        <a:xfrm>
          <a:off x="7518270" y="303765"/>
          <a:ext cx="629541" cy="7364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7518270" y="451054"/>
        <a:ext cx="440679" cy="441866"/>
      </dsp:txXfrm>
    </dsp:sp>
    <dsp:sp modelId="{8853593E-C223-441A-AB90-614ED7506EC9}">
      <dsp:nvSpPr>
        <dsp:cNvPr id="0" name=""/>
        <dsp:cNvSpPr/>
      </dsp:nvSpPr>
      <dsp:spPr>
        <a:xfrm>
          <a:off x="8324633" y="0"/>
          <a:ext cx="2969535" cy="1345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Allometric equations convert from depth to biomass</a:t>
          </a:r>
          <a:endParaRPr lang="en-US" sz="4400" kern="1200" dirty="0"/>
        </a:p>
      </dsp:txBody>
      <dsp:txXfrm>
        <a:off x="8364029" y="39396"/>
        <a:ext cx="2890743" cy="1266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5C26B-FE5A-4813-9617-9DD4438CB938}">
      <dsp:nvSpPr>
        <dsp:cNvPr id="0" name=""/>
        <dsp:cNvSpPr/>
      </dsp:nvSpPr>
      <dsp:spPr>
        <a:xfrm>
          <a:off x="4967" y="0"/>
          <a:ext cx="2171955" cy="1866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Estimate parameters for GLMMs</a:t>
          </a:r>
        </a:p>
      </dsp:txBody>
      <dsp:txXfrm>
        <a:off x="59626" y="54659"/>
        <a:ext cx="2062637" cy="1756877"/>
      </dsp:txXfrm>
    </dsp:sp>
    <dsp:sp modelId="{19824344-560B-4F0F-8FD7-37E2B124901A}">
      <dsp:nvSpPr>
        <dsp:cNvPr id="0" name=""/>
        <dsp:cNvSpPr/>
      </dsp:nvSpPr>
      <dsp:spPr>
        <a:xfrm>
          <a:off x="2400123" y="669791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400123" y="777520"/>
        <a:ext cx="322318" cy="323186"/>
      </dsp:txXfrm>
    </dsp:sp>
    <dsp:sp modelId="{BA299813-846E-4302-9074-A6923A487E26}">
      <dsp:nvSpPr>
        <dsp:cNvPr id="0" name=""/>
        <dsp:cNvSpPr/>
      </dsp:nvSpPr>
      <dsp:spPr>
        <a:xfrm>
          <a:off x="3045705" y="0"/>
          <a:ext cx="2171955" cy="1866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Simulate counts on continuous grid</a:t>
          </a:r>
        </a:p>
      </dsp:txBody>
      <dsp:txXfrm>
        <a:off x="3100364" y="54659"/>
        <a:ext cx="2062637" cy="1756877"/>
      </dsp:txXfrm>
    </dsp:sp>
    <dsp:sp modelId="{33C9DFC7-F7AA-4E7C-9485-3C1E31AE45CA}">
      <dsp:nvSpPr>
        <dsp:cNvPr id="0" name=""/>
        <dsp:cNvSpPr/>
      </dsp:nvSpPr>
      <dsp:spPr>
        <a:xfrm>
          <a:off x="5371866" y="669791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371866" y="777520"/>
        <a:ext cx="322318" cy="323186"/>
      </dsp:txXfrm>
    </dsp:sp>
    <dsp:sp modelId="{672CF368-42E8-4CF2-8BBD-6F944715AD88}">
      <dsp:nvSpPr>
        <dsp:cNvPr id="0" name=""/>
        <dsp:cNvSpPr/>
      </dsp:nvSpPr>
      <dsp:spPr>
        <a:xfrm>
          <a:off x="6086443" y="0"/>
          <a:ext cx="2171955" cy="1866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Simulate diameter for each particle</a:t>
          </a:r>
        </a:p>
      </dsp:txBody>
      <dsp:txXfrm>
        <a:off x="6141102" y="54659"/>
        <a:ext cx="2062637" cy="1756877"/>
      </dsp:txXfrm>
    </dsp:sp>
    <dsp:sp modelId="{E46D9D38-48BE-4DE4-8EAB-95094A87AEA3}">
      <dsp:nvSpPr>
        <dsp:cNvPr id="0" name=""/>
        <dsp:cNvSpPr/>
      </dsp:nvSpPr>
      <dsp:spPr>
        <a:xfrm>
          <a:off x="8448280" y="669791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448280" y="777520"/>
        <a:ext cx="322318" cy="323186"/>
      </dsp:txXfrm>
    </dsp:sp>
    <dsp:sp modelId="{8853593E-C223-441A-AB90-614ED7506EC9}">
      <dsp:nvSpPr>
        <dsp:cNvPr id="0" name=""/>
        <dsp:cNvSpPr/>
      </dsp:nvSpPr>
      <dsp:spPr>
        <a:xfrm>
          <a:off x="9127180" y="0"/>
          <a:ext cx="2171955" cy="1866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Aggregate by size class and convert to biomass</a:t>
          </a:r>
          <a:endParaRPr lang="en-US" sz="4400" kern="1200" dirty="0"/>
        </a:p>
      </dsp:txBody>
      <dsp:txXfrm>
        <a:off x="9181839" y="54659"/>
        <a:ext cx="2062637" cy="17568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5C26B-FE5A-4813-9617-9DD4438CB938}">
      <dsp:nvSpPr>
        <dsp:cNvPr id="0" name=""/>
        <dsp:cNvSpPr/>
      </dsp:nvSpPr>
      <dsp:spPr>
        <a:xfrm>
          <a:off x="4967" y="0"/>
          <a:ext cx="2171955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Estimate parameters for GLMM</a:t>
          </a:r>
        </a:p>
      </dsp:txBody>
      <dsp:txXfrm>
        <a:off x="64689" y="59722"/>
        <a:ext cx="2052511" cy="1919604"/>
      </dsp:txXfrm>
    </dsp:sp>
    <dsp:sp modelId="{19824344-560B-4F0F-8FD7-37E2B124901A}">
      <dsp:nvSpPr>
        <dsp:cNvPr id="0" name=""/>
        <dsp:cNvSpPr/>
      </dsp:nvSpPr>
      <dsp:spPr>
        <a:xfrm>
          <a:off x="2399478" y="814262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399478" y="921991"/>
        <a:ext cx="322318" cy="323186"/>
      </dsp:txXfrm>
    </dsp:sp>
    <dsp:sp modelId="{BA299813-846E-4302-9074-A6923A487E26}">
      <dsp:nvSpPr>
        <dsp:cNvPr id="0" name=""/>
        <dsp:cNvSpPr/>
      </dsp:nvSpPr>
      <dsp:spPr>
        <a:xfrm>
          <a:off x="3045705" y="0"/>
          <a:ext cx="2171955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Simulate presences on continuous grid</a:t>
          </a:r>
        </a:p>
      </dsp:txBody>
      <dsp:txXfrm>
        <a:off x="3105427" y="59722"/>
        <a:ext cx="2052511" cy="1919604"/>
      </dsp:txXfrm>
    </dsp:sp>
    <dsp:sp modelId="{33C9DFC7-F7AA-4E7C-9485-3C1E31AE45CA}">
      <dsp:nvSpPr>
        <dsp:cNvPr id="0" name=""/>
        <dsp:cNvSpPr/>
      </dsp:nvSpPr>
      <dsp:spPr>
        <a:xfrm>
          <a:off x="5371221" y="814262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371221" y="921991"/>
        <a:ext cx="322318" cy="323186"/>
      </dsp:txXfrm>
    </dsp:sp>
    <dsp:sp modelId="{672CF368-42E8-4CF2-8BBD-6F944715AD88}">
      <dsp:nvSpPr>
        <dsp:cNvPr id="0" name=""/>
        <dsp:cNvSpPr/>
      </dsp:nvSpPr>
      <dsp:spPr>
        <a:xfrm>
          <a:off x="6086443" y="0"/>
          <a:ext cx="2171955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Draw pixel characteristics from observed data</a:t>
          </a:r>
        </a:p>
      </dsp:txBody>
      <dsp:txXfrm>
        <a:off x="6146165" y="59722"/>
        <a:ext cx="2052511" cy="1919604"/>
      </dsp:txXfrm>
    </dsp:sp>
    <dsp:sp modelId="{E46D9D38-48BE-4DE4-8EAB-95094A87AEA3}">
      <dsp:nvSpPr>
        <dsp:cNvPr id="0" name=""/>
        <dsp:cNvSpPr/>
      </dsp:nvSpPr>
      <dsp:spPr>
        <a:xfrm>
          <a:off x="8447635" y="814262"/>
          <a:ext cx="460454" cy="538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447635" y="921991"/>
        <a:ext cx="322318" cy="323186"/>
      </dsp:txXfrm>
    </dsp:sp>
    <dsp:sp modelId="{8853593E-C223-441A-AB90-614ED7506EC9}">
      <dsp:nvSpPr>
        <dsp:cNvPr id="0" name=""/>
        <dsp:cNvSpPr/>
      </dsp:nvSpPr>
      <dsp:spPr>
        <a:xfrm>
          <a:off x="9127180" y="0"/>
          <a:ext cx="2171955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Distribute biomass into voxels</a:t>
          </a:r>
          <a:endParaRPr lang="en-US" sz="4400" kern="1200" dirty="0"/>
        </a:p>
      </dsp:txBody>
      <dsp:txXfrm>
        <a:off x="9186902" y="59722"/>
        <a:ext cx="2052511" cy="19196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5C26B-FE5A-4813-9617-9DD4438CB938}">
      <dsp:nvSpPr>
        <dsp:cNvPr id="0" name=""/>
        <dsp:cNvSpPr/>
      </dsp:nvSpPr>
      <dsp:spPr>
        <a:xfrm>
          <a:off x="10482" y="0"/>
          <a:ext cx="2169834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Estimate parameters for GLMMs</a:t>
          </a:r>
        </a:p>
      </dsp:txBody>
      <dsp:txXfrm>
        <a:off x="70204" y="59722"/>
        <a:ext cx="2050390" cy="1919604"/>
      </dsp:txXfrm>
    </dsp:sp>
    <dsp:sp modelId="{19824344-560B-4F0F-8FD7-37E2B124901A}">
      <dsp:nvSpPr>
        <dsp:cNvPr id="0" name=""/>
        <dsp:cNvSpPr/>
      </dsp:nvSpPr>
      <dsp:spPr>
        <a:xfrm>
          <a:off x="2454616" y="800208"/>
          <a:ext cx="460004" cy="5381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454616" y="907832"/>
        <a:ext cx="322003" cy="322870"/>
      </dsp:txXfrm>
    </dsp:sp>
    <dsp:sp modelId="{BA299813-846E-4302-9074-A6923A487E26}">
      <dsp:nvSpPr>
        <dsp:cNvPr id="0" name=""/>
        <dsp:cNvSpPr/>
      </dsp:nvSpPr>
      <dsp:spPr>
        <a:xfrm>
          <a:off x="3048250" y="0"/>
          <a:ext cx="2169834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Simulate presences on continuous grid</a:t>
          </a:r>
        </a:p>
      </dsp:txBody>
      <dsp:txXfrm>
        <a:off x="3107972" y="59722"/>
        <a:ext cx="2050390" cy="1919604"/>
      </dsp:txXfrm>
    </dsp:sp>
    <dsp:sp modelId="{33C9DFC7-F7AA-4E7C-9485-3C1E31AE45CA}">
      <dsp:nvSpPr>
        <dsp:cNvPr id="0" name=""/>
        <dsp:cNvSpPr/>
      </dsp:nvSpPr>
      <dsp:spPr>
        <a:xfrm>
          <a:off x="5423458" y="800208"/>
          <a:ext cx="460004" cy="5381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23458" y="907832"/>
        <a:ext cx="322003" cy="322870"/>
      </dsp:txXfrm>
    </dsp:sp>
    <dsp:sp modelId="{672CF368-42E8-4CF2-8BBD-6F944715AD88}">
      <dsp:nvSpPr>
        <dsp:cNvPr id="0" name=""/>
        <dsp:cNvSpPr/>
      </dsp:nvSpPr>
      <dsp:spPr>
        <a:xfrm>
          <a:off x="6086018" y="0"/>
          <a:ext cx="2169834" cy="2039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Draw stem characteristics from observed data</a:t>
          </a:r>
        </a:p>
      </dsp:txBody>
      <dsp:txXfrm>
        <a:off x="6145740" y="59722"/>
        <a:ext cx="2050390" cy="1919604"/>
      </dsp:txXfrm>
    </dsp:sp>
    <dsp:sp modelId="{E46D9D38-48BE-4DE4-8EAB-95094A87AEA3}">
      <dsp:nvSpPr>
        <dsp:cNvPr id="0" name=""/>
        <dsp:cNvSpPr/>
      </dsp:nvSpPr>
      <dsp:spPr>
        <a:xfrm rot="21600000">
          <a:off x="8502052" y="275842"/>
          <a:ext cx="468055" cy="5381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-21600000">
        <a:off x="8502052" y="383466"/>
        <a:ext cx="327639" cy="322870"/>
      </dsp:txXfrm>
    </dsp:sp>
    <dsp:sp modelId="{8853593E-C223-441A-AB90-614ED7506EC9}">
      <dsp:nvSpPr>
        <dsp:cNvPr id="0" name=""/>
        <dsp:cNvSpPr/>
      </dsp:nvSpPr>
      <dsp:spPr>
        <a:xfrm>
          <a:off x="9129958" y="0"/>
          <a:ext cx="2169834" cy="1162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Distribute biomass into voxels</a:t>
          </a:r>
          <a:endParaRPr lang="en-US" sz="4400" kern="1200" dirty="0"/>
        </a:p>
      </dsp:txBody>
      <dsp:txXfrm>
        <a:off x="9163999" y="34041"/>
        <a:ext cx="2101752" cy="1094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36C0-49D3-4D65-B39B-042CF0DE460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CFDEB-17EC-4707-8D3D-BDFD1E672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0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Pyregence</a:t>
            </a:r>
            <a:r>
              <a:rPr lang="en-US" dirty="0"/>
              <a:t> background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talk: TAC meeting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Feedback on: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Balance of new / old material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Level of detail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Content ordering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68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Motivation for this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Current models do a reasonable job with the difficult task of mapping fuel conditions across a landscape (left)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Two deficiencies associated with current fire/fuels models in this context at finer scales (middle)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Within pixel variability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No CWD / duff / smoldering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</a:rPr>
              <a:t>combustiion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New models (right) need a way to measure / describe fine-scale spatial variation, including of CWD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</a:rPr>
              <a:t>Core goal is to be able to feed realistic fine-scale data into a CFD fire model (FIRETEC, Mark’s)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861E3-BF39-48E1-8E4C-58CE84979C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31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Designed a sampling protocol which is a fairly standard forest / fuels inventory, but geared towards analysis of fine-scale spatial patterns</a:t>
            </a:r>
          </a:p>
          <a:p>
            <a:r>
              <a:rPr lang="en-US" dirty="0"/>
              <a:t>Top left: trees and saplings</a:t>
            </a:r>
          </a:p>
          <a:p>
            <a:r>
              <a:rPr lang="en-US" dirty="0"/>
              <a:t>Bottom left: understory veg</a:t>
            </a:r>
          </a:p>
          <a:p>
            <a:r>
              <a:rPr lang="en-US" dirty="0"/>
              <a:t>Top right: Litter and duff depths</a:t>
            </a:r>
          </a:p>
          <a:p>
            <a:r>
              <a:rPr lang="en-US" dirty="0"/>
              <a:t>Middle right: Tallies and diameters of fine woody debris</a:t>
            </a:r>
          </a:p>
          <a:p>
            <a:r>
              <a:rPr lang="en-US" dirty="0"/>
              <a:t>Bottom right: Inventory (with locations) of CWD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5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GLMMs with a gaussian process random effect representing fine-scale spatial autocorrelation</a:t>
            </a:r>
          </a:p>
          <a:p>
            <a:r>
              <a:rPr lang="en-US" dirty="0"/>
              <a:t>3 terms in the model</a:t>
            </a:r>
          </a:p>
          <a:p>
            <a:r>
              <a:rPr lang="en-US" dirty="0"/>
              <a:t>Advantages of a regression-based approach: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Models can easily handle incorporation of new fixed-effect covariates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By simulating from the model, we can turn sparse sampling into a continuous map of fuels</a:t>
            </a:r>
          </a:p>
          <a:p>
            <a:r>
              <a:rPr lang="en-US" dirty="0"/>
              <a:t>(right): gap &amp; jackpot (patch with high fuel loads)</a:t>
            </a:r>
          </a:p>
          <a:p>
            <a:r>
              <a:rPr lang="en-US" dirty="0"/>
              <a:t>What are the spatial size and fuel loading magnitude of the patches and gaps?</a:t>
            </a:r>
          </a:p>
          <a:p>
            <a:r>
              <a:rPr lang="en-US" dirty="0"/>
              <a:t>GP ran eff allows quantitative description of the patch size (range) and the patch magnitude (spatial variance)</a:t>
            </a:r>
          </a:p>
          <a:p>
            <a:r>
              <a:rPr lang="en-US" dirty="0"/>
              <a:t>A: patches are large but weak</a:t>
            </a:r>
          </a:p>
          <a:p>
            <a:r>
              <a:rPr lang="en-US" dirty="0"/>
              <a:t>B: patches are large and strong</a:t>
            </a:r>
          </a:p>
          <a:p>
            <a:r>
              <a:rPr lang="en-US" dirty="0"/>
              <a:t>C: patches are small and weak</a:t>
            </a:r>
          </a:p>
          <a:p>
            <a:r>
              <a:rPr lang="en-US" dirty="0"/>
              <a:t>D: patches are small and strong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861E3-BF39-48E1-8E4C-58CE84979C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0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3 experimental units (6-9 ha each) sampled in summer 2020 (orange: dense subsamples)</a:t>
            </a:r>
          </a:p>
          <a:p>
            <a:r>
              <a:rPr lang="en-US" dirty="0"/>
              <a:t>Right: Burned them in spring 2021 </a:t>
            </a:r>
          </a:p>
          <a:p>
            <a:r>
              <a:rPr lang="en-US" dirty="0"/>
              <a:t>Resampled in Summer 2021</a:t>
            </a:r>
          </a:p>
          <a:p>
            <a:r>
              <a:rPr lang="en-US" dirty="0"/>
              <a:t>Goals: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Pilot data collection and statistical analysis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Build fuel models for managed/unburned and managed/burned forest</a:t>
            </a:r>
          </a:p>
          <a:p>
            <a:pPr marL="171450" indent="-171450">
              <a:buFontTx/>
              <a:buChar char="-"/>
            </a:pPr>
            <a:r>
              <a:rPr lang="en-US" dirty="0"/>
              <a:t>Demonstrate application #1: Studying how fine-scale spatial pattern responds to experimental treatment (Rx fire)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861E3-BF39-48E1-8E4C-58CE84979C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86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 (mostly)</a:t>
            </a:r>
          </a:p>
          <a:p>
            <a:r>
              <a:rPr lang="en-US" dirty="0"/>
              <a:t>Looking at: Posterior probability density on the y axis, parameter value on the x axis, panels for fuel component (rows) and GP parameter (columns). Parameter values for pre-burn (purple) and post-burn (yellow) data</a:t>
            </a:r>
          </a:p>
          <a:p>
            <a:r>
              <a:rPr lang="en-US" dirty="0"/>
              <a:t>Left: The Rx fire increased the magnitude of the GP effect for </a:t>
            </a:r>
            <a:r>
              <a:rPr lang="en-US" dirty="0" err="1"/>
              <a:t>litter+duff</a:t>
            </a:r>
            <a:r>
              <a:rPr lang="en-US" dirty="0"/>
              <a:t>, 1-hour, and 10-hour fuels, meaning that the spatial pattern was more intense postfire</a:t>
            </a:r>
          </a:p>
          <a:p>
            <a:r>
              <a:rPr lang="en-US" dirty="0"/>
              <a:t>Right: Rx fire decreased the range of autocorrelation for </a:t>
            </a:r>
            <a:r>
              <a:rPr lang="en-US" dirty="0" err="1"/>
              <a:t>litter+duff</a:t>
            </a:r>
            <a:r>
              <a:rPr lang="en-US" dirty="0"/>
              <a:t>, increased it for 1-hour fuels, didn’t affect 10-hour, and unclear results on 100-hour (post-burn probability distribution very similar to the prior, indicating that estimates for that parameter were not well informed by the 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97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study located in an area of SEKI with lots of mortality in the 2012-2016 drought</a:t>
            </a:r>
          </a:p>
          <a:p>
            <a:r>
              <a:rPr lang="en-US" dirty="0"/>
              <a:t>Two goals:</a:t>
            </a:r>
          </a:p>
          <a:p>
            <a:pPr marL="171450" indent="-171450">
              <a:buFontTx/>
              <a:buChar char="-"/>
            </a:pPr>
            <a:r>
              <a:rPr lang="en-US" dirty="0"/>
              <a:t>Understand how varying levels of drought mortality affected parameters of surface fuels (mean loading, coarse scale variability, fine-scale autocorrelation)</a:t>
            </a:r>
          </a:p>
          <a:p>
            <a:pPr marL="171450" indent="-171450">
              <a:buFontTx/>
              <a:buChar char="-"/>
            </a:pPr>
            <a:r>
              <a:rPr lang="en-US" dirty="0"/>
              <a:t> Build and test the pipeline for simulating continuous </a:t>
            </a:r>
            <a:r>
              <a:rPr lang="en-US" dirty="0" err="1"/>
              <a:t>fuelbeds</a:t>
            </a:r>
            <a:r>
              <a:rPr lang="en-US" dirty="0"/>
              <a:t> of all 7 fuel components (duff, litter, FWD, CWD, understory veg, saplings, trees)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1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all of these models, each plot is assigned a group (e.g. low / medium / high drought mortality) and each group gets its own set of GLMM parameters</a:t>
            </a:r>
          </a:p>
          <a:p>
            <a:r>
              <a:rPr lang="en-US" dirty="0"/>
              <a:t>Flexible definition of group: Could classify based on the observed data, remote sensing, disturbance history, etc.</a:t>
            </a:r>
          </a:p>
          <a:p>
            <a:r>
              <a:rPr lang="en-US" dirty="0"/>
              <a:t>1: Using the observed data, estimate the parameters for GLMMs for duff and litter depth (review b0, S, P), with parameters varying by group</a:t>
            </a:r>
          </a:p>
          <a:p>
            <a:r>
              <a:rPr lang="en-US" dirty="0"/>
              <a:t>2: Using the estimated parameters, simulate duff / litter depths on a continuous grid</a:t>
            </a:r>
          </a:p>
          <a:p>
            <a:r>
              <a:rPr lang="en-US" dirty="0"/>
              <a:t>3: Use allometric equations to convert from depth to biomass</a:t>
            </a:r>
          </a:p>
          <a:p>
            <a:r>
              <a:rPr lang="en-US" dirty="0"/>
              <a:t>Works for 1d application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23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FWD and CWD both have 2 part models. FWD is shown, but the setup is the same for CWD.</a:t>
            </a:r>
          </a:p>
          <a:p>
            <a:r>
              <a:rPr lang="en-US" dirty="0"/>
              <a:t>In the first part, there’s a spatial GLMM (very similar to litter/duff GLMM) for the count of particles on a 1m </a:t>
            </a:r>
            <a:r>
              <a:rPr lang="en-US" dirty="0" err="1"/>
              <a:t>subtransect</a:t>
            </a:r>
            <a:endParaRPr lang="en-US" dirty="0"/>
          </a:p>
          <a:p>
            <a:r>
              <a:rPr lang="en-US" dirty="0"/>
              <a:t>In the second part, there’s an aspatial GLMM fit on the diameters of individual particles</a:t>
            </a:r>
          </a:p>
          <a:p>
            <a:r>
              <a:rPr lang="en-US" dirty="0"/>
              <a:t>Simulation of continuous </a:t>
            </a:r>
            <a:r>
              <a:rPr lang="en-US" dirty="0" err="1"/>
              <a:t>fuelbeds</a:t>
            </a:r>
            <a:r>
              <a:rPr lang="en-US" dirty="0"/>
              <a:t> has 3 steps:</a:t>
            </a:r>
          </a:p>
          <a:p>
            <a:pPr marL="228600" indent="-228600">
              <a:buAutoNum type="arabicParenR"/>
            </a:pPr>
            <a:r>
              <a:rPr lang="en-US" dirty="0"/>
              <a:t>Simulate counts on a continuous grid</a:t>
            </a:r>
          </a:p>
          <a:p>
            <a:pPr marL="228600" indent="-228600">
              <a:buAutoNum type="arabicParenR"/>
            </a:pPr>
            <a:r>
              <a:rPr lang="en-US" dirty="0"/>
              <a:t>For each simulated particle, simulate a diameter</a:t>
            </a:r>
          </a:p>
          <a:p>
            <a:pPr marL="228600" indent="-228600">
              <a:buAutoNum type="arabicParenR"/>
            </a:pPr>
            <a:r>
              <a:rPr lang="en-US" dirty="0"/>
              <a:t>Aggregate the particles by size class (size classes are flexible!) and use allometric equations to convert to biomass</a:t>
            </a:r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19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statistical model for understory veg is a spatial GLMM predicting shrub presence</a:t>
            </a:r>
          </a:p>
          <a:p>
            <a:r>
              <a:rPr lang="en-US" dirty="0"/>
              <a:t>To simulate continuous </a:t>
            </a:r>
            <a:r>
              <a:rPr lang="en-US" dirty="0" err="1"/>
              <a:t>fuelbed</a:t>
            </a:r>
            <a:r>
              <a:rPr lang="en-US" dirty="0"/>
              <a:t>:</a:t>
            </a:r>
          </a:p>
          <a:p>
            <a:pPr marL="228600" indent="-228600">
              <a:buAutoNum type="arabicParenR"/>
            </a:pPr>
            <a:r>
              <a:rPr lang="en-US" dirty="0"/>
              <a:t>Simulate presences on a continuous grid</a:t>
            </a:r>
          </a:p>
          <a:p>
            <a:pPr marL="228600" indent="-228600">
              <a:buAutoNum type="arabicParenR"/>
            </a:pPr>
            <a:r>
              <a:rPr lang="en-US" dirty="0"/>
              <a:t>For each pixel with a presence, draw individual characteristics (species, height) from the observed data, weighting by the observed abundance of that species/height combo</a:t>
            </a:r>
          </a:p>
          <a:p>
            <a:pPr marL="228600" indent="-228600">
              <a:buAutoNum type="arabicParenR"/>
            </a:pPr>
            <a:r>
              <a:rPr lang="en-US" dirty="0"/>
              <a:t>Use allometric equations to predict the crown biomass on each pixel, distribute that biomass into voxels based on the height in that pixel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8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Trees and saplings were observed and modeled separately, though with identical models</a:t>
            </a:r>
          </a:p>
          <a:p>
            <a:r>
              <a:rPr lang="en-US" dirty="0"/>
              <a:t>Spatial GLMM with </a:t>
            </a:r>
            <a:r>
              <a:rPr lang="en-US" dirty="0" err="1"/>
              <a:t>poisson</a:t>
            </a:r>
            <a:r>
              <a:rPr lang="en-US" dirty="0"/>
              <a:t> response for number of trees/saplings within a 1m2 quadrat</a:t>
            </a:r>
          </a:p>
          <a:p>
            <a:r>
              <a:rPr lang="en-US" dirty="0"/>
              <a:t>After simulating parameters, simulate a count of stems on a continuous grid</a:t>
            </a:r>
          </a:p>
          <a:p>
            <a:r>
              <a:rPr lang="en-US" dirty="0"/>
              <a:t>Draw individual characteristics (species, DBH, height, HTCB) from the </a:t>
            </a:r>
            <a:r>
              <a:rPr lang="en-US" dirty="0" err="1"/>
              <a:t>treelist</a:t>
            </a:r>
            <a:r>
              <a:rPr lang="en-US" dirty="0"/>
              <a:t> for the current group; fuzz the continuous grid </a:t>
            </a:r>
            <a:r>
              <a:rPr lang="en-US" dirty="0" err="1"/>
              <a:t>coords</a:t>
            </a:r>
            <a:r>
              <a:rPr lang="en-US" dirty="0"/>
              <a:t> to make a stem map</a:t>
            </a:r>
          </a:p>
          <a:p>
            <a:r>
              <a:rPr lang="en-US" dirty="0"/>
              <a:t>Assume conical crowns and boles, estimate bole and crown biomass, distribute biomass into voxels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07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41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FDEB-17EC-4707-8D3D-BDFD1E6727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27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F65E-DEC9-BEE9-BB94-272885825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305D-2835-A20E-2FE8-499922A13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7202-4432-1B45-D865-90BBCFBD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6B5E1-A70C-E1B6-2622-F1E9AB2E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86191-BA9B-E5BF-19D6-40E0F76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1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DEE5-54E2-AAA3-8068-062D36B0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F3C70-0BEE-07C7-3CB5-E635D762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6E931-6CA2-9079-BD13-9A4D8939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F0D8E-519C-3401-8ED4-6DA6FCEA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43930-B097-A6E6-3D8C-F543B9FA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7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4831-7B62-D036-13A1-9C4474C2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1C03-5C4B-A974-C2B2-D8455DF44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3A978-F484-A727-B9D9-369EF3FF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4CB9-ECB7-B328-EF6E-7A18CBDF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3D24-E76E-72BE-DC2F-BBC1432E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7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8BFA-BBB5-D6ED-1BF7-4A6EAFCD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BC4D-CEB0-E346-8674-CA59934A8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A9C1C-5610-88AC-C85B-D046000E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D6079-94A4-3FAF-11C0-58976BCA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337E6-645F-9C34-FAD8-317DC2AA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6381B-AA9E-6F53-C85D-0A4AABB8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3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34D9-1088-0368-94CE-7AD70518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F02A2-41E3-A5F0-1081-FB916684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88986-EEC2-8BC0-4F4D-4BDEE1023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9763-B23B-3AFD-9DDD-08D838C99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84FB1-3DC9-E762-3C6C-C65A4E558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A3B73-EBFC-E593-5D3A-5009FC7D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F4F42-EEF9-9EBD-B454-8992D6B8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E6773-2ADB-C538-34C7-C569626C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9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02CB-F763-FB63-8758-F1892C1B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B7441-EE81-461F-E374-95F4BC8F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CBB19-BFAE-AE8E-15E7-84B9C182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B686C-B016-692D-77F4-97C7D141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2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5C5DC-ACFB-6B19-8697-77C5BFC3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BEA92-DE7C-1729-5D3B-B278819A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7A274-A990-3BF0-51E2-BEB9788B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5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06DA-0148-313A-0C1D-2DABC8D5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5254-EBAC-872B-CF51-71C4E3FBF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97B03-F414-1E02-8C32-58F4E1F17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5F78A-E2A2-2369-7260-8E062EA0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4CA9C-2E53-6FC6-5F60-42CFBDCC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F6B5B-64BC-3320-7F76-80DD22B0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9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2978-CD46-C77D-A2D1-0AB7C635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E6616F-BAC8-17D7-4CC3-F311A6289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E2484-8FBD-E1E9-122A-43A2F6187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7B280-1E90-8E82-1CB6-4F162CAB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409C8-AC67-BCF0-D875-3B8AC779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4B477-5F37-804F-9700-7DBEC9FD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6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FE70-3DBD-BF09-3A17-793DFF6D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2526A-5DD2-7091-C47E-64F2D45BC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62DAB-5688-EF33-B5B9-D187B06C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754A2-E61C-266D-F9BE-5CF28876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FB67F-209F-FA68-731A-00EC0E2D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6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558F9-6D18-81BC-3B4B-B7235F00F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58488-62DA-44E4-9F7D-F8A158B34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5F23A-AD64-3AE1-EB59-BECC0AEBC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8AEFF-07C7-1C95-C798-F633A7CD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595B-7DC0-3543-3D47-B22550A8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6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9FD9A4-CB2D-4866-0F61-B36E7621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BE2E3-C5EA-A347-BED1-E3299F613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163C9-E41A-04E5-D106-42FE30B88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9564-7802-4020-89EC-BB47155E2346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93222-3A78-EC85-6F9E-BFDB4D996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CB535-0EA4-AB87-DA22-3327A9F1C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1B880-0569-4151-BEFB-5F9E15E9F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20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50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22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5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928A-EAC4-36AE-2D8D-30383C53F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Fuel Measurement Methodologies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1A845-4B58-FC91-0E7A-9939146C7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Pyregence</a:t>
            </a:r>
            <a:r>
              <a:rPr lang="en-US" dirty="0"/>
              <a:t> Technical Advisory Committee Meeting</a:t>
            </a:r>
          </a:p>
          <a:p>
            <a:r>
              <a:rPr lang="en-US" dirty="0"/>
              <a:t>Fall 2022</a:t>
            </a:r>
          </a:p>
          <a:p>
            <a:r>
              <a:rPr lang="en-US" dirty="0"/>
              <a:t>Daniel Foster</a:t>
            </a:r>
          </a:p>
        </p:txBody>
      </p:sp>
    </p:spTree>
    <p:extLst>
      <p:ext uri="{BB962C8B-B14F-4D97-AF65-F5344CB8AC3E}">
        <p14:creationId xmlns:p14="http://schemas.microsoft.com/office/powerpoint/2010/main" val="2132588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F224B0F-8B9A-4727-9853-4DE337E7660D}"/>
              </a:ext>
            </a:extLst>
          </p:cNvPr>
          <p:cNvSpPr/>
          <p:nvPr/>
        </p:nvSpPr>
        <p:spPr>
          <a:xfrm>
            <a:off x="8242300" y="101600"/>
            <a:ext cx="3882943" cy="6669122"/>
          </a:xfrm>
          <a:prstGeom prst="round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FFF756-9705-4DE8-AA76-1A8BC8CCC7EC}"/>
              </a:ext>
            </a:extLst>
          </p:cNvPr>
          <p:cNvSpPr/>
          <p:nvPr/>
        </p:nvSpPr>
        <p:spPr>
          <a:xfrm>
            <a:off x="4503387" y="101600"/>
            <a:ext cx="3695597" cy="6669122"/>
          </a:xfrm>
          <a:prstGeom prst="round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A9CC94-5014-46A7-A0DD-0D6C3C9D3E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73" t="42087" r="42797" b="20028"/>
          <a:stretch/>
        </p:blipFill>
        <p:spPr>
          <a:xfrm>
            <a:off x="-19899" y="1"/>
            <a:ext cx="3553313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0A5DEA-FB0A-40E8-871E-C38D0C99648B}"/>
              </a:ext>
            </a:extLst>
          </p:cNvPr>
          <p:cNvSpPr txBox="1"/>
          <p:nvPr/>
        </p:nvSpPr>
        <p:spPr>
          <a:xfrm>
            <a:off x="66757" y="6124391"/>
            <a:ext cx="1260658" cy="646331"/>
          </a:xfrm>
          <a:prstGeom prst="rect">
            <a:avLst/>
          </a:prstGeom>
          <a:solidFill>
            <a:schemeClr val="bg2">
              <a:alpha val="89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2 km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728CFE-F87B-4DD1-A817-829AB63AE515}"/>
              </a:ext>
            </a:extLst>
          </p:cNvPr>
          <p:cNvCxnSpPr>
            <a:cxnSpLocks/>
          </p:cNvCxnSpPr>
          <p:nvPr/>
        </p:nvCxnSpPr>
        <p:spPr>
          <a:xfrm flipH="1">
            <a:off x="254239" y="6382890"/>
            <a:ext cx="796955" cy="0"/>
          </a:xfrm>
          <a:prstGeom prst="straightConnector1">
            <a:avLst/>
          </a:prstGeom>
          <a:ln w="38100">
            <a:headEnd type="diamond" w="med" len="med"/>
            <a:tailEnd type="diamond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picture containing tree, outdoor, track, smoke&#10;&#10;Description automatically generated">
            <a:extLst>
              <a:ext uri="{FF2B5EF4-FFF2-40B4-BE49-F238E27FC236}">
                <a16:creationId xmlns:a16="http://schemas.microsoft.com/office/drawing/2014/main" id="{5799CEB2-1565-40FE-A4EE-D0E0A520FD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5"/>
          <a:stretch/>
        </p:blipFill>
        <p:spPr>
          <a:xfrm>
            <a:off x="4652453" y="3972586"/>
            <a:ext cx="3143363" cy="2498045"/>
          </a:xfrm>
          <a:prstGeom prst="rect">
            <a:avLst/>
          </a:prstGeom>
        </p:spPr>
      </p:pic>
      <p:pic>
        <p:nvPicPr>
          <p:cNvPr id="14" name="Picture 13" descr="A picture containing tree, outdoor, track, smoke&#10;&#10;Description automatically generated">
            <a:extLst>
              <a:ext uri="{FF2B5EF4-FFF2-40B4-BE49-F238E27FC236}">
                <a16:creationId xmlns:a16="http://schemas.microsoft.com/office/drawing/2014/main" id="{ECC009C6-745C-4817-95F9-7CF21F92F7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5"/>
          <a:stretch/>
        </p:blipFill>
        <p:spPr>
          <a:xfrm>
            <a:off x="8684997" y="3972586"/>
            <a:ext cx="3143363" cy="2498045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21E44A8-F565-48A9-8CCC-EF2BED576F76}"/>
              </a:ext>
            </a:extLst>
          </p:cNvPr>
          <p:cNvSpPr/>
          <p:nvPr/>
        </p:nvSpPr>
        <p:spPr>
          <a:xfrm>
            <a:off x="4652453" y="4935463"/>
            <a:ext cx="2087707" cy="1097026"/>
          </a:xfrm>
          <a:custGeom>
            <a:avLst/>
            <a:gdLst>
              <a:gd name="connsiteX0" fmla="*/ 51849 w 2677285"/>
              <a:gd name="connsiteY0" fmla="*/ 678872 h 1607127"/>
              <a:gd name="connsiteX1" fmla="*/ 51849 w 2677285"/>
              <a:gd name="connsiteY1" fmla="*/ 678872 h 1607127"/>
              <a:gd name="connsiteX2" fmla="*/ 183467 w 2677285"/>
              <a:gd name="connsiteY2" fmla="*/ 699654 h 1607127"/>
              <a:gd name="connsiteX3" fmla="*/ 197322 w 2677285"/>
              <a:gd name="connsiteY3" fmla="*/ 720436 h 1607127"/>
              <a:gd name="connsiteX4" fmla="*/ 211176 w 2677285"/>
              <a:gd name="connsiteY4" fmla="*/ 768927 h 1607127"/>
              <a:gd name="connsiteX5" fmla="*/ 225031 w 2677285"/>
              <a:gd name="connsiteY5" fmla="*/ 858981 h 1607127"/>
              <a:gd name="connsiteX6" fmla="*/ 273522 w 2677285"/>
              <a:gd name="connsiteY6" fmla="*/ 838200 h 1607127"/>
              <a:gd name="connsiteX7" fmla="*/ 287376 w 2677285"/>
              <a:gd name="connsiteY7" fmla="*/ 782781 h 1607127"/>
              <a:gd name="connsiteX8" fmla="*/ 308158 w 2677285"/>
              <a:gd name="connsiteY8" fmla="*/ 651163 h 1607127"/>
              <a:gd name="connsiteX9" fmla="*/ 384358 w 2677285"/>
              <a:gd name="connsiteY9" fmla="*/ 658091 h 1607127"/>
              <a:gd name="connsiteX10" fmla="*/ 405140 w 2677285"/>
              <a:gd name="connsiteY10" fmla="*/ 685800 h 1607127"/>
              <a:gd name="connsiteX11" fmla="*/ 425922 w 2677285"/>
              <a:gd name="connsiteY11" fmla="*/ 692727 h 1607127"/>
              <a:gd name="connsiteX12" fmla="*/ 439776 w 2677285"/>
              <a:gd name="connsiteY12" fmla="*/ 713509 h 1607127"/>
              <a:gd name="connsiteX13" fmla="*/ 474412 w 2677285"/>
              <a:gd name="connsiteY13" fmla="*/ 762000 h 1607127"/>
              <a:gd name="connsiteX14" fmla="*/ 495194 w 2677285"/>
              <a:gd name="connsiteY14" fmla="*/ 768927 h 1607127"/>
              <a:gd name="connsiteX15" fmla="*/ 550612 w 2677285"/>
              <a:gd name="connsiteY15" fmla="*/ 762000 h 1607127"/>
              <a:gd name="connsiteX16" fmla="*/ 585249 w 2677285"/>
              <a:gd name="connsiteY16" fmla="*/ 720436 h 1607127"/>
              <a:gd name="connsiteX17" fmla="*/ 599103 w 2677285"/>
              <a:gd name="connsiteY17" fmla="*/ 415636 h 1607127"/>
              <a:gd name="connsiteX18" fmla="*/ 612958 w 2677285"/>
              <a:gd name="connsiteY18" fmla="*/ 381000 h 1607127"/>
              <a:gd name="connsiteX19" fmla="*/ 619885 w 2677285"/>
              <a:gd name="connsiteY19" fmla="*/ 353291 h 1607127"/>
              <a:gd name="connsiteX20" fmla="*/ 647594 w 2677285"/>
              <a:gd name="connsiteY20" fmla="*/ 284018 h 1607127"/>
              <a:gd name="connsiteX21" fmla="*/ 661449 w 2677285"/>
              <a:gd name="connsiteY21" fmla="*/ 27709 h 1607127"/>
              <a:gd name="connsiteX22" fmla="*/ 675303 w 2677285"/>
              <a:gd name="connsiteY22" fmla="*/ 6927 h 1607127"/>
              <a:gd name="connsiteX23" fmla="*/ 703012 w 2677285"/>
              <a:gd name="connsiteY23" fmla="*/ 0 h 1607127"/>
              <a:gd name="connsiteX24" fmla="*/ 772285 w 2677285"/>
              <a:gd name="connsiteY24" fmla="*/ 6927 h 1607127"/>
              <a:gd name="connsiteX25" fmla="*/ 813849 w 2677285"/>
              <a:gd name="connsiteY25" fmla="*/ 69272 h 1607127"/>
              <a:gd name="connsiteX26" fmla="*/ 827703 w 2677285"/>
              <a:gd name="connsiteY26" fmla="*/ 152400 h 1607127"/>
              <a:gd name="connsiteX27" fmla="*/ 834631 w 2677285"/>
              <a:gd name="connsiteY27" fmla="*/ 180109 h 1607127"/>
              <a:gd name="connsiteX28" fmla="*/ 862340 w 2677285"/>
              <a:gd name="connsiteY28" fmla="*/ 235527 h 1607127"/>
              <a:gd name="connsiteX29" fmla="*/ 883122 w 2677285"/>
              <a:gd name="connsiteY29" fmla="*/ 304800 h 1607127"/>
              <a:gd name="connsiteX30" fmla="*/ 890049 w 2677285"/>
              <a:gd name="connsiteY30" fmla="*/ 339436 h 1607127"/>
              <a:gd name="connsiteX31" fmla="*/ 896976 w 2677285"/>
              <a:gd name="connsiteY31" fmla="*/ 360218 h 1607127"/>
              <a:gd name="connsiteX32" fmla="*/ 903903 w 2677285"/>
              <a:gd name="connsiteY32" fmla="*/ 387927 h 1607127"/>
              <a:gd name="connsiteX33" fmla="*/ 924685 w 2677285"/>
              <a:gd name="connsiteY33" fmla="*/ 422563 h 1607127"/>
              <a:gd name="connsiteX34" fmla="*/ 931612 w 2677285"/>
              <a:gd name="connsiteY34" fmla="*/ 443345 h 1607127"/>
              <a:gd name="connsiteX35" fmla="*/ 973176 w 2677285"/>
              <a:gd name="connsiteY35" fmla="*/ 512618 h 1607127"/>
              <a:gd name="connsiteX36" fmla="*/ 1028594 w 2677285"/>
              <a:gd name="connsiteY36" fmla="*/ 588818 h 1607127"/>
              <a:gd name="connsiteX37" fmla="*/ 1056303 w 2677285"/>
              <a:gd name="connsiteY37" fmla="*/ 637309 h 1607127"/>
              <a:gd name="connsiteX38" fmla="*/ 1104794 w 2677285"/>
              <a:gd name="connsiteY38" fmla="*/ 720436 h 1607127"/>
              <a:gd name="connsiteX39" fmla="*/ 1132503 w 2677285"/>
              <a:gd name="connsiteY39" fmla="*/ 748145 h 1607127"/>
              <a:gd name="connsiteX40" fmla="*/ 1160212 w 2677285"/>
              <a:gd name="connsiteY40" fmla="*/ 810491 h 1607127"/>
              <a:gd name="connsiteX41" fmla="*/ 1201776 w 2677285"/>
              <a:gd name="connsiteY41" fmla="*/ 879763 h 1607127"/>
              <a:gd name="connsiteX42" fmla="*/ 1229485 w 2677285"/>
              <a:gd name="connsiteY42" fmla="*/ 893618 h 1607127"/>
              <a:gd name="connsiteX43" fmla="*/ 1354176 w 2677285"/>
              <a:gd name="connsiteY43" fmla="*/ 879763 h 1607127"/>
              <a:gd name="connsiteX44" fmla="*/ 1374958 w 2677285"/>
              <a:gd name="connsiteY44" fmla="*/ 858981 h 1607127"/>
              <a:gd name="connsiteX45" fmla="*/ 1409594 w 2677285"/>
              <a:gd name="connsiteY45" fmla="*/ 845127 h 1607127"/>
              <a:gd name="connsiteX46" fmla="*/ 1458085 w 2677285"/>
              <a:gd name="connsiteY46" fmla="*/ 803563 h 1607127"/>
              <a:gd name="connsiteX47" fmla="*/ 1478867 w 2677285"/>
              <a:gd name="connsiteY47" fmla="*/ 782781 h 1607127"/>
              <a:gd name="connsiteX48" fmla="*/ 1513503 w 2677285"/>
              <a:gd name="connsiteY48" fmla="*/ 755072 h 1607127"/>
              <a:gd name="connsiteX49" fmla="*/ 1534285 w 2677285"/>
              <a:gd name="connsiteY49" fmla="*/ 699654 h 1607127"/>
              <a:gd name="connsiteX50" fmla="*/ 1548140 w 2677285"/>
              <a:gd name="connsiteY50" fmla="*/ 671945 h 1607127"/>
              <a:gd name="connsiteX51" fmla="*/ 1575849 w 2677285"/>
              <a:gd name="connsiteY51" fmla="*/ 658091 h 1607127"/>
              <a:gd name="connsiteX52" fmla="*/ 1596631 w 2677285"/>
              <a:gd name="connsiteY52" fmla="*/ 637309 h 1607127"/>
              <a:gd name="connsiteX53" fmla="*/ 1762885 w 2677285"/>
              <a:gd name="connsiteY53" fmla="*/ 637309 h 1607127"/>
              <a:gd name="connsiteX54" fmla="*/ 1839085 w 2677285"/>
              <a:gd name="connsiteY54" fmla="*/ 658091 h 1607127"/>
              <a:gd name="connsiteX55" fmla="*/ 1846012 w 2677285"/>
              <a:gd name="connsiteY55" fmla="*/ 685800 h 1607127"/>
              <a:gd name="connsiteX56" fmla="*/ 1880649 w 2677285"/>
              <a:gd name="connsiteY56" fmla="*/ 741218 h 1607127"/>
              <a:gd name="connsiteX57" fmla="*/ 1929140 w 2677285"/>
              <a:gd name="connsiteY57" fmla="*/ 803563 h 1607127"/>
              <a:gd name="connsiteX58" fmla="*/ 1963776 w 2677285"/>
              <a:gd name="connsiteY58" fmla="*/ 893618 h 1607127"/>
              <a:gd name="connsiteX59" fmla="*/ 1970703 w 2677285"/>
              <a:gd name="connsiteY59" fmla="*/ 942109 h 1607127"/>
              <a:gd name="connsiteX60" fmla="*/ 1998412 w 2677285"/>
              <a:gd name="connsiteY60" fmla="*/ 1184563 h 1607127"/>
              <a:gd name="connsiteX61" fmla="*/ 2074612 w 2677285"/>
              <a:gd name="connsiteY61" fmla="*/ 1177636 h 1607127"/>
              <a:gd name="connsiteX62" fmla="*/ 2109249 w 2677285"/>
              <a:gd name="connsiteY62" fmla="*/ 1170709 h 1607127"/>
              <a:gd name="connsiteX63" fmla="*/ 2164667 w 2677285"/>
              <a:gd name="connsiteY63" fmla="*/ 1177636 h 1607127"/>
              <a:gd name="connsiteX64" fmla="*/ 2178522 w 2677285"/>
              <a:gd name="connsiteY64" fmla="*/ 1302327 h 1607127"/>
              <a:gd name="connsiteX65" fmla="*/ 2268576 w 2677285"/>
              <a:gd name="connsiteY65" fmla="*/ 1295400 h 1607127"/>
              <a:gd name="connsiteX66" fmla="*/ 2317067 w 2677285"/>
              <a:gd name="connsiteY66" fmla="*/ 1274618 h 1607127"/>
              <a:gd name="connsiteX67" fmla="*/ 2351703 w 2677285"/>
              <a:gd name="connsiteY67" fmla="*/ 1260763 h 1607127"/>
              <a:gd name="connsiteX68" fmla="*/ 2393267 w 2677285"/>
              <a:gd name="connsiteY68" fmla="*/ 1246909 h 1607127"/>
              <a:gd name="connsiteX69" fmla="*/ 2476394 w 2677285"/>
              <a:gd name="connsiteY69" fmla="*/ 1212272 h 1607127"/>
              <a:gd name="connsiteX70" fmla="*/ 2559522 w 2677285"/>
              <a:gd name="connsiteY70" fmla="*/ 1219200 h 1607127"/>
              <a:gd name="connsiteX71" fmla="*/ 2601085 w 2677285"/>
              <a:gd name="connsiteY71" fmla="*/ 1226127 h 1607127"/>
              <a:gd name="connsiteX72" fmla="*/ 2649576 w 2677285"/>
              <a:gd name="connsiteY72" fmla="*/ 1233054 h 1607127"/>
              <a:gd name="connsiteX73" fmla="*/ 2670358 w 2677285"/>
              <a:gd name="connsiteY73" fmla="*/ 1246909 h 1607127"/>
              <a:gd name="connsiteX74" fmla="*/ 2677285 w 2677285"/>
              <a:gd name="connsiteY74" fmla="*/ 1267691 h 1607127"/>
              <a:gd name="connsiteX75" fmla="*/ 2670358 w 2677285"/>
              <a:gd name="connsiteY75" fmla="*/ 1385454 h 1607127"/>
              <a:gd name="connsiteX76" fmla="*/ 2656503 w 2677285"/>
              <a:gd name="connsiteY76" fmla="*/ 1420091 h 1607127"/>
              <a:gd name="connsiteX77" fmla="*/ 2420976 w 2677285"/>
              <a:gd name="connsiteY77" fmla="*/ 1427018 h 1607127"/>
              <a:gd name="connsiteX78" fmla="*/ 2434831 w 2677285"/>
              <a:gd name="connsiteY78" fmla="*/ 1475509 h 1607127"/>
              <a:gd name="connsiteX79" fmla="*/ 2420976 w 2677285"/>
              <a:gd name="connsiteY79" fmla="*/ 1517072 h 1607127"/>
              <a:gd name="connsiteX80" fmla="*/ 2414049 w 2677285"/>
              <a:gd name="connsiteY80" fmla="*/ 1551709 h 1607127"/>
              <a:gd name="connsiteX81" fmla="*/ 2393267 w 2677285"/>
              <a:gd name="connsiteY81" fmla="*/ 1572491 h 1607127"/>
              <a:gd name="connsiteX82" fmla="*/ 2379412 w 2677285"/>
              <a:gd name="connsiteY82" fmla="*/ 1593272 h 1607127"/>
              <a:gd name="connsiteX83" fmla="*/ 2337849 w 2677285"/>
              <a:gd name="connsiteY83" fmla="*/ 1607127 h 1607127"/>
              <a:gd name="connsiteX84" fmla="*/ 2275503 w 2677285"/>
              <a:gd name="connsiteY84" fmla="*/ 1586345 h 1607127"/>
              <a:gd name="connsiteX85" fmla="*/ 2220085 w 2677285"/>
              <a:gd name="connsiteY85" fmla="*/ 1558636 h 1607127"/>
              <a:gd name="connsiteX86" fmla="*/ 2185449 w 2677285"/>
              <a:gd name="connsiteY86" fmla="*/ 1510145 h 1607127"/>
              <a:gd name="connsiteX87" fmla="*/ 2164667 w 2677285"/>
              <a:gd name="connsiteY87" fmla="*/ 1475509 h 1607127"/>
              <a:gd name="connsiteX88" fmla="*/ 2150812 w 2677285"/>
              <a:gd name="connsiteY88" fmla="*/ 1454727 h 1607127"/>
              <a:gd name="connsiteX89" fmla="*/ 2130031 w 2677285"/>
              <a:gd name="connsiteY89" fmla="*/ 1447800 h 1607127"/>
              <a:gd name="connsiteX90" fmla="*/ 1700540 w 2677285"/>
              <a:gd name="connsiteY90" fmla="*/ 1454727 h 1607127"/>
              <a:gd name="connsiteX91" fmla="*/ 1652049 w 2677285"/>
              <a:gd name="connsiteY91" fmla="*/ 1468581 h 1607127"/>
              <a:gd name="connsiteX92" fmla="*/ 1409594 w 2677285"/>
              <a:gd name="connsiteY92" fmla="*/ 1454727 h 1607127"/>
              <a:gd name="connsiteX93" fmla="*/ 1271049 w 2677285"/>
              <a:gd name="connsiteY93" fmla="*/ 1454727 h 1607127"/>
              <a:gd name="connsiteX94" fmla="*/ 1236412 w 2677285"/>
              <a:gd name="connsiteY94" fmla="*/ 1468581 h 1607127"/>
              <a:gd name="connsiteX95" fmla="*/ 1208703 w 2677285"/>
              <a:gd name="connsiteY95" fmla="*/ 1489363 h 1607127"/>
              <a:gd name="connsiteX96" fmla="*/ 1084012 w 2677285"/>
              <a:gd name="connsiteY96" fmla="*/ 1496291 h 1607127"/>
              <a:gd name="connsiteX97" fmla="*/ 1056303 w 2677285"/>
              <a:gd name="connsiteY97" fmla="*/ 1503218 h 1607127"/>
              <a:gd name="connsiteX98" fmla="*/ 987031 w 2677285"/>
              <a:gd name="connsiteY98" fmla="*/ 1530927 h 1607127"/>
              <a:gd name="connsiteX99" fmla="*/ 813849 w 2677285"/>
              <a:gd name="connsiteY99" fmla="*/ 1537854 h 1607127"/>
              <a:gd name="connsiteX100" fmla="*/ 730722 w 2677285"/>
              <a:gd name="connsiteY100" fmla="*/ 1551709 h 1607127"/>
              <a:gd name="connsiteX101" fmla="*/ 661449 w 2677285"/>
              <a:gd name="connsiteY101" fmla="*/ 1565563 h 1607127"/>
              <a:gd name="connsiteX102" fmla="*/ 536758 w 2677285"/>
              <a:gd name="connsiteY102" fmla="*/ 1572491 h 1607127"/>
              <a:gd name="connsiteX103" fmla="*/ 44922 w 2677285"/>
              <a:gd name="connsiteY103" fmla="*/ 1565563 h 1607127"/>
              <a:gd name="connsiteX104" fmla="*/ 17212 w 2677285"/>
              <a:gd name="connsiteY104" fmla="*/ 1524000 h 1607127"/>
              <a:gd name="connsiteX105" fmla="*/ 24140 w 2677285"/>
              <a:gd name="connsiteY105" fmla="*/ 1371600 h 1607127"/>
              <a:gd name="connsiteX106" fmla="*/ 31067 w 2677285"/>
              <a:gd name="connsiteY106" fmla="*/ 1350818 h 1607127"/>
              <a:gd name="connsiteX107" fmla="*/ 17212 w 2677285"/>
              <a:gd name="connsiteY107" fmla="*/ 1281545 h 1607127"/>
              <a:gd name="connsiteX108" fmla="*/ 31067 w 2677285"/>
              <a:gd name="connsiteY108" fmla="*/ 935181 h 1607127"/>
              <a:gd name="connsiteX109" fmla="*/ 17212 w 2677285"/>
              <a:gd name="connsiteY109" fmla="*/ 685800 h 1607127"/>
              <a:gd name="connsiteX110" fmla="*/ 3358 w 2677285"/>
              <a:gd name="connsiteY110" fmla="*/ 644236 h 1607127"/>
              <a:gd name="connsiteX111" fmla="*/ 51849 w 2677285"/>
              <a:gd name="connsiteY111" fmla="*/ 678872 h 1607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2677285" h="1607127">
                <a:moveTo>
                  <a:pt x="51849" y="678872"/>
                </a:moveTo>
                <a:lnTo>
                  <a:pt x="51849" y="678872"/>
                </a:lnTo>
                <a:cubicBezTo>
                  <a:pt x="95722" y="685799"/>
                  <a:pt x="140760" y="687452"/>
                  <a:pt x="183467" y="699654"/>
                </a:cubicBezTo>
                <a:cubicBezTo>
                  <a:pt x="191472" y="701941"/>
                  <a:pt x="194230" y="712706"/>
                  <a:pt x="197322" y="720436"/>
                </a:cubicBezTo>
                <a:cubicBezTo>
                  <a:pt x="203565" y="736044"/>
                  <a:pt x="207099" y="752618"/>
                  <a:pt x="211176" y="768927"/>
                </a:cubicBezTo>
                <a:cubicBezTo>
                  <a:pt x="219109" y="800659"/>
                  <a:pt x="220825" y="825335"/>
                  <a:pt x="225031" y="858981"/>
                </a:cubicBezTo>
                <a:cubicBezTo>
                  <a:pt x="235808" y="856287"/>
                  <a:pt x="266688" y="851868"/>
                  <a:pt x="273522" y="838200"/>
                </a:cubicBezTo>
                <a:cubicBezTo>
                  <a:pt x="282038" y="821169"/>
                  <a:pt x="283642" y="801453"/>
                  <a:pt x="287376" y="782781"/>
                </a:cubicBezTo>
                <a:cubicBezTo>
                  <a:pt x="305332" y="693005"/>
                  <a:pt x="298631" y="736913"/>
                  <a:pt x="308158" y="651163"/>
                </a:cubicBezTo>
                <a:cubicBezTo>
                  <a:pt x="333558" y="653472"/>
                  <a:pt x="360339" y="649513"/>
                  <a:pt x="384358" y="658091"/>
                </a:cubicBezTo>
                <a:cubicBezTo>
                  <a:pt x="395231" y="661974"/>
                  <a:pt x="396270" y="678409"/>
                  <a:pt x="405140" y="685800"/>
                </a:cubicBezTo>
                <a:cubicBezTo>
                  <a:pt x="410750" y="690475"/>
                  <a:pt x="418995" y="690418"/>
                  <a:pt x="425922" y="692727"/>
                </a:cubicBezTo>
                <a:cubicBezTo>
                  <a:pt x="430540" y="699654"/>
                  <a:pt x="435645" y="706280"/>
                  <a:pt x="439776" y="713509"/>
                </a:cubicBezTo>
                <a:cubicBezTo>
                  <a:pt x="453110" y="736843"/>
                  <a:pt x="450980" y="746379"/>
                  <a:pt x="474412" y="762000"/>
                </a:cubicBezTo>
                <a:cubicBezTo>
                  <a:pt x="480488" y="766050"/>
                  <a:pt x="488267" y="766618"/>
                  <a:pt x="495194" y="768927"/>
                </a:cubicBezTo>
                <a:cubicBezTo>
                  <a:pt x="513667" y="766618"/>
                  <a:pt x="533116" y="768362"/>
                  <a:pt x="550612" y="762000"/>
                </a:cubicBezTo>
                <a:cubicBezTo>
                  <a:pt x="562346" y="757733"/>
                  <a:pt x="578652" y="730331"/>
                  <a:pt x="585249" y="720436"/>
                </a:cubicBezTo>
                <a:cubicBezTo>
                  <a:pt x="616262" y="596380"/>
                  <a:pt x="575653" y="767389"/>
                  <a:pt x="599103" y="415636"/>
                </a:cubicBezTo>
                <a:cubicBezTo>
                  <a:pt x="599930" y="403229"/>
                  <a:pt x="609026" y="392797"/>
                  <a:pt x="612958" y="381000"/>
                </a:cubicBezTo>
                <a:cubicBezTo>
                  <a:pt x="615969" y="371968"/>
                  <a:pt x="616683" y="362257"/>
                  <a:pt x="619885" y="353291"/>
                </a:cubicBezTo>
                <a:cubicBezTo>
                  <a:pt x="628250" y="329870"/>
                  <a:pt x="638358" y="307109"/>
                  <a:pt x="647594" y="284018"/>
                </a:cubicBezTo>
                <a:cubicBezTo>
                  <a:pt x="652212" y="198582"/>
                  <a:pt x="652935" y="112845"/>
                  <a:pt x="661449" y="27709"/>
                </a:cubicBezTo>
                <a:cubicBezTo>
                  <a:pt x="662277" y="19425"/>
                  <a:pt x="668376" y="11545"/>
                  <a:pt x="675303" y="6927"/>
                </a:cubicBezTo>
                <a:cubicBezTo>
                  <a:pt x="683225" y="1646"/>
                  <a:pt x="693776" y="2309"/>
                  <a:pt x="703012" y="0"/>
                </a:cubicBezTo>
                <a:lnTo>
                  <a:pt x="772285" y="6927"/>
                </a:lnTo>
                <a:cubicBezTo>
                  <a:pt x="793465" y="20164"/>
                  <a:pt x="813849" y="69272"/>
                  <a:pt x="813849" y="69272"/>
                </a:cubicBezTo>
                <a:cubicBezTo>
                  <a:pt x="818467" y="96981"/>
                  <a:pt x="822526" y="124790"/>
                  <a:pt x="827703" y="152400"/>
                </a:cubicBezTo>
                <a:cubicBezTo>
                  <a:pt x="829458" y="161758"/>
                  <a:pt x="830969" y="171321"/>
                  <a:pt x="834631" y="180109"/>
                </a:cubicBezTo>
                <a:cubicBezTo>
                  <a:pt x="842575" y="199173"/>
                  <a:pt x="862340" y="235527"/>
                  <a:pt x="862340" y="235527"/>
                </a:cubicBezTo>
                <a:cubicBezTo>
                  <a:pt x="880334" y="325501"/>
                  <a:pt x="855781" y="213664"/>
                  <a:pt x="883122" y="304800"/>
                </a:cubicBezTo>
                <a:cubicBezTo>
                  <a:pt x="886505" y="316077"/>
                  <a:pt x="887193" y="328014"/>
                  <a:pt x="890049" y="339436"/>
                </a:cubicBezTo>
                <a:cubicBezTo>
                  <a:pt x="891820" y="346520"/>
                  <a:pt x="894970" y="353197"/>
                  <a:pt x="896976" y="360218"/>
                </a:cubicBezTo>
                <a:cubicBezTo>
                  <a:pt x="899591" y="369372"/>
                  <a:pt x="900036" y="379227"/>
                  <a:pt x="903903" y="387927"/>
                </a:cubicBezTo>
                <a:cubicBezTo>
                  <a:pt x="909371" y="400231"/>
                  <a:pt x="918664" y="410520"/>
                  <a:pt x="924685" y="422563"/>
                </a:cubicBezTo>
                <a:cubicBezTo>
                  <a:pt x="927951" y="429094"/>
                  <a:pt x="928150" y="436916"/>
                  <a:pt x="931612" y="443345"/>
                </a:cubicBezTo>
                <a:cubicBezTo>
                  <a:pt x="944379" y="467055"/>
                  <a:pt x="956354" y="491590"/>
                  <a:pt x="973176" y="512618"/>
                </a:cubicBezTo>
                <a:cubicBezTo>
                  <a:pt x="1000659" y="546972"/>
                  <a:pt x="1004653" y="549913"/>
                  <a:pt x="1028594" y="588818"/>
                </a:cubicBezTo>
                <a:cubicBezTo>
                  <a:pt x="1038351" y="604673"/>
                  <a:pt x="1047477" y="620918"/>
                  <a:pt x="1056303" y="637309"/>
                </a:cubicBezTo>
                <a:cubicBezTo>
                  <a:pt x="1077267" y="676241"/>
                  <a:pt x="1076303" y="684822"/>
                  <a:pt x="1104794" y="720436"/>
                </a:cubicBezTo>
                <a:cubicBezTo>
                  <a:pt x="1112954" y="730636"/>
                  <a:pt x="1123267" y="738909"/>
                  <a:pt x="1132503" y="748145"/>
                </a:cubicBezTo>
                <a:cubicBezTo>
                  <a:pt x="1158617" y="826486"/>
                  <a:pt x="1132770" y="761094"/>
                  <a:pt x="1160212" y="810491"/>
                </a:cubicBezTo>
                <a:cubicBezTo>
                  <a:pt x="1171281" y="830416"/>
                  <a:pt x="1182788" y="863488"/>
                  <a:pt x="1201776" y="879763"/>
                </a:cubicBezTo>
                <a:cubicBezTo>
                  <a:pt x="1209617" y="886483"/>
                  <a:pt x="1220249" y="889000"/>
                  <a:pt x="1229485" y="893618"/>
                </a:cubicBezTo>
                <a:cubicBezTo>
                  <a:pt x="1271049" y="889000"/>
                  <a:pt x="1313494" y="889449"/>
                  <a:pt x="1354176" y="879763"/>
                </a:cubicBezTo>
                <a:cubicBezTo>
                  <a:pt x="1363706" y="877494"/>
                  <a:pt x="1366650" y="864173"/>
                  <a:pt x="1374958" y="858981"/>
                </a:cubicBezTo>
                <a:cubicBezTo>
                  <a:pt x="1385503" y="852391"/>
                  <a:pt x="1398049" y="849745"/>
                  <a:pt x="1409594" y="845127"/>
                </a:cubicBezTo>
                <a:cubicBezTo>
                  <a:pt x="1461162" y="793559"/>
                  <a:pt x="1395879" y="856883"/>
                  <a:pt x="1458085" y="803563"/>
                </a:cubicBezTo>
                <a:cubicBezTo>
                  <a:pt x="1465523" y="797187"/>
                  <a:pt x="1471494" y="789232"/>
                  <a:pt x="1478867" y="782781"/>
                </a:cubicBezTo>
                <a:cubicBezTo>
                  <a:pt x="1489994" y="773045"/>
                  <a:pt x="1501958" y="764308"/>
                  <a:pt x="1513503" y="755072"/>
                </a:cubicBezTo>
                <a:cubicBezTo>
                  <a:pt x="1524281" y="701186"/>
                  <a:pt x="1512332" y="738072"/>
                  <a:pt x="1534285" y="699654"/>
                </a:cubicBezTo>
                <a:cubicBezTo>
                  <a:pt x="1539408" y="690688"/>
                  <a:pt x="1540838" y="679247"/>
                  <a:pt x="1548140" y="671945"/>
                </a:cubicBezTo>
                <a:cubicBezTo>
                  <a:pt x="1555442" y="664643"/>
                  <a:pt x="1566613" y="662709"/>
                  <a:pt x="1575849" y="658091"/>
                </a:cubicBezTo>
                <a:cubicBezTo>
                  <a:pt x="1582776" y="651164"/>
                  <a:pt x="1587535" y="640948"/>
                  <a:pt x="1596631" y="637309"/>
                </a:cubicBezTo>
                <a:cubicBezTo>
                  <a:pt x="1635059" y="621937"/>
                  <a:pt x="1746805" y="636363"/>
                  <a:pt x="1762885" y="637309"/>
                </a:cubicBezTo>
                <a:cubicBezTo>
                  <a:pt x="1815619" y="654886"/>
                  <a:pt x="1790129" y="648299"/>
                  <a:pt x="1839085" y="658091"/>
                </a:cubicBezTo>
                <a:cubicBezTo>
                  <a:pt x="1841394" y="667327"/>
                  <a:pt x="1842145" y="677100"/>
                  <a:pt x="1846012" y="685800"/>
                </a:cubicBezTo>
                <a:cubicBezTo>
                  <a:pt x="1848857" y="692202"/>
                  <a:pt x="1873066" y="731107"/>
                  <a:pt x="1880649" y="741218"/>
                </a:cubicBezTo>
                <a:cubicBezTo>
                  <a:pt x="1896446" y="762280"/>
                  <a:pt x="1918769" y="779364"/>
                  <a:pt x="1929140" y="803563"/>
                </a:cubicBezTo>
                <a:cubicBezTo>
                  <a:pt x="1955675" y="865477"/>
                  <a:pt x="1944361" y="835371"/>
                  <a:pt x="1963776" y="893618"/>
                </a:cubicBezTo>
                <a:cubicBezTo>
                  <a:pt x="1966085" y="909782"/>
                  <a:pt x="1969907" y="925801"/>
                  <a:pt x="1970703" y="942109"/>
                </a:cubicBezTo>
                <a:cubicBezTo>
                  <a:pt x="1982626" y="1186528"/>
                  <a:pt x="1902674" y="1152650"/>
                  <a:pt x="1998412" y="1184563"/>
                </a:cubicBezTo>
                <a:cubicBezTo>
                  <a:pt x="2023812" y="1182254"/>
                  <a:pt x="2049304" y="1180799"/>
                  <a:pt x="2074612" y="1177636"/>
                </a:cubicBezTo>
                <a:cubicBezTo>
                  <a:pt x="2086295" y="1176176"/>
                  <a:pt x="2097475" y="1170709"/>
                  <a:pt x="2109249" y="1170709"/>
                </a:cubicBezTo>
                <a:cubicBezTo>
                  <a:pt x="2127865" y="1170709"/>
                  <a:pt x="2146194" y="1175327"/>
                  <a:pt x="2164667" y="1177636"/>
                </a:cubicBezTo>
                <a:cubicBezTo>
                  <a:pt x="2169285" y="1219200"/>
                  <a:pt x="2150853" y="1270969"/>
                  <a:pt x="2178522" y="1302327"/>
                </a:cubicBezTo>
                <a:cubicBezTo>
                  <a:pt x="2198441" y="1324902"/>
                  <a:pt x="2238702" y="1299134"/>
                  <a:pt x="2268576" y="1295400"/>
                </a:cubicBezTo>
                <a:cubicBezTo>
                  <a:pt x="2283419" y="1293545"/>
                  <a:pt x="2305080" y="1279946"/>
                  <a:pt x="2317067" y="1274618"/>
                </a:cubicBezTo>
                <a:cubicBezTo>
                  <a:pt x="2328430" y="1269568"/>
                  <a:pt x="2340017" y="1265012"/>
                  <a:pt x="2351703" y="1260763"/>
                </a:cubicBezTo>
                <a:cubicBezTo>
                  <a:pt x="2365428" y="1255772"/>
                  <a:pt x="2380205" y="1253440"/>
                  <a:pt x="2393267" y="1246909"/>
                </a:cubicBezTo>
                <a:cubicBezTo>
                  <a:pt x="2457201" y="1214942"/>
                  <a:pt x="2428649" y="1224210"/>
                  <a:pt x="2476394" y="1212272"/>
                </a:cubicBezTo>
                <a:cubicBezTo>
                  <a:pt x="2504103" y="1214581"/>
                  <a:pt x="2531887" y="1216129"/>
                  <a:pt x="2559522" y="1219200"/>
                </a:cubicBezTo>
                <a:cubicBezTo>
                  <a:pt x="2573482" y="1220751"/>
                  <a:pt x="2587203" y="1223991"/>
                  <a:pt x="2601085" y="1226127"/>
                </a:cubicBezTo>
                <a:cubicBezTo>
                  <a:pt x="2617223" y="1228610"/>
                  <a:pt x="2633412" y="1230745"/>
                  <a:pt x="2649576" y="1233054"/>
                </a:cubicBezTo>
                <a:cubicBezTo>
                  <a:pt x="2656503" y="1237672"/>
                  <a:pt x="2665157" y="1240408"/>
                  <a:pt x="2670358" y="1246909"/>
                </a:cubicBezTo>
                <a:cubicBezTo>
                  <a:pt x="2674919" y="1252611"/>
                  <a:pt x="2677285" y="1260389"/>
                  <a:pt x="2677285" y="1267691"/>
                </a:cubicBezTo>
                <a:cubicBezTo>
                  <a:pt x="2677285" y="1307013"/>
                  <a:pt x="2675671" y="1346492"/>
                  <a:pt x="2670358" y="1385454"/>
                </a:cubicBezTo>
                <a:cubicBezTo>
                  <a:pt x="2668678" y="1397775"/>
                  <a:pt x="2668769" y="1418047"/>
                  <a:pt x="2656503" y="1420091"/>
                </a:cubicBezTo>
                <a:cubicBezTo>
                  <a:pt x="2579029" y="1433003"/>
                  <a:pt x="2499485" y="1424709"/>
                  <a:pt x="2420976" y="1427018"/>
                </a:cubicBezTo>
                <a:cubicBezTo>
                  <a:pt x="2423729" y="1435276"/>
                  <a:pt x="2435500" y="1468821"/>
                  <a:pt x="2434831" y="1475509"/>
                </a:cubicBezTo>
                <a:cubicBezTo>
                  <a:pt x="2433378" y="1490040"/>
                  <a:pt x="2424819" y="1502983"/>
                  <a:pt x="2420976" y="1517072"/>
                </a:cubicBezTo>
                <a:cubicBezTo>
                  <a:pt x="2417878" y="1528431"/>
                  <a:pt x="2419315" y="1541178"/>
                  <a:pt x="2414049" y="1551709"/>
                </a:cubicBezTo>
                <a:cubicBezTo>
                  <a:pt x="2409668" y="1560471"/>
                  <a:pt x="2399539" y="1564965"/>
                  <a:pt x="2393267" y="1572491"/>
                </a:cubicBezTo>
                <a:cubicBezTo>
                  <a:pt x="2387937" y="1578887"/>
                  <a:pt x="2386472" y="1588860"/>
                  <a:pt x="2379412" y="1593272"/>
                </a:cubicBezTo>
                <a:cubicBezTo>
                  <a:pt x="2367028" y="1601012"/>
                  <a:pt x="2351703" y="1602509"/>
                  <a:pt x="2337849" y="1607127"/>
                </a:cubicBezTo>
                <a:cubicBezTo>
                  <a:pt x="2307758" y="1599605"/>
                  <a:pt x="2306333" y="1600574"/>
                  <a:pt x="2275503" y="1586345"/>
                </a:cubicBezTo>
                <a:cubicBezTo>
                  <a:pt x="2256751" y="1577690"/>
                  <a:pt x="2220085" y="1558636"/>
                  <a:pt x="2220085" y="1558636"/>
                </a:cubicBezTo>
                <a:cubicBezTo>
                  <a:pt x="2208540" y="1542472"/>
                  <a:pt x="2196467" y="1526672"/>
                  <a:pt x="2185449" y="1510145"/>
                </a:cubicBezTo>
                <a:cubicBezTo>
                  <a:pt x="2177980" y="1498942"/>
                  <a:pt x="2171803" y="1486926"/>
                  <a:pt x="2164667" y="1475509"/>
                </a:cubicBezTo>
                <a:cubicBezTo>
                  <a:pt x="2160254" y="1468449"/>
                  <a:pt x="2157313" y="1459928"/>
                  <a:pt x="2150812" y="1454727"/>
                </a:cubicBezTo>
                <a:cubicBezTo>
                  <a:pt x="2145110" y="1450166"/>
                  <a:pt x="2136958" y="1450109"/>
                  <a:pt x="2130031" y="1447800"/>
                </a:cubicBezTo>
                <a:cubicBezTo>
                  <a:pt x="1986867" y="1450109"/>
                  <a:pt x="1843587" y="1448508"/>
                  <a:pt x="1700540" y="1454727"/>
                </a:cubicBezTo>
                <a:cubicBezTo>
                  <a:pt x="1683745" y="1455457"/>
                  <a:pt x="1668859" y="1468581"/>
                  <a:pt x="1652049" y="1468581"/>
                </a:cubicBezTo>
                <a:cubicBezTo>
                  <a:pt x="1571099" y="1468581"/>
                  <a:pt x="1409594" y="1454727"/>
                  <a:pt x="1409594" y="1454727"/>
                </a:cubicBezTo>
                <a:cubicBezTo>
                  <a:pt x="1348877" y="1444608"/>
                  <a:pt x="1352472" y="1441871"/>
                  <a:pt x="1271049" y="1454727"/>
                </a:cubicBezTo>
                <a:cubicBezTo>
                  <a:pt x="1258766" y="1456666"/>
                  <a:pt x="1247282" y="1462542"/>
                  <a:pt x="1236412" y="1468581"/>
                </a:cubicBezTo>
                <a:cubicBezTo>
                  <a:pt x="1226319" y="1474188"/>
                  <a:pt x="1220062" y="1487298"/>
                  <a:pt x="1208703" y="1489363"/>
                </a:cubicBezTo>
                <a:cubicBezTo>
                  <a:pt x="1167747" y="1496810"/>
                  <a:pt x="1125576" y="1493982"/>
                  <a:pt x="1084012" y="1496291"/>
                </a:cubicBezTo>
                <a:cubicBezTo>
                  <a:pt x="1074776" y="1498600"/>
                  <a:pt x="1065269" y="1500016"/>
                  <a:pt x="1056303" y="1503218"/>
                </a:cubicBezTo>
                <a:cubicBezTo>
                  <a:pt x="1032882" y="1511582"/>
                  <a:pt x="1011881" y="1529933"/>
                  <a:pt x="987031" y="1530927"/>
                </a:cubicBezTo>
                <a:lnTo>
                  <a:pt x="813849" y="1537854"/>
                </a:lnTo>
                <a:cubicBezTo>
                  <a:pt x="786140" y="1542472"/>
                  <a:pt x="758268" y="1546200"/>
                  <a:pt x="730722" y="1551709"/>
                </a:cubicBezTo>
                <a:cubicBezTo>
                  <a:pt x="667204" y="1564413"/>
                  <a:pt x="778092" y="1556231"/>
                  <a:pt x="661449" y="1565563"/>
                </a:cubicBezTo>
                <a:cubicBezTo>
                  <a:pt x="619954" y="1568883"/>
                  <a:pt x="578322" y="1570182"/>
                  <a:pt x="536758" y="1572491"/>
                </a:cubicBezTo>
                <a:lnTo>
                  <a:pt x="44922" y="1565563"/>
                </a:lnTo>
                <a:cubicBezTo>
                  <a:pt x="14938" y="1564753"/>
                  <a:pt x="22399" y="1549930"/>
                  <a:pt x="17212" y="1524000"/>
                </a:cubicBezTo>
                <a:cubicBezTo>
                  <a:pt x="19521" y="1473200"/>
                  <a:pt x="20085" y="1422291"/>
                  <a:pt x="24140" y="1371600"/>
                </a:cubicBezTo>
                <a:cubicBezTo>
                  <a:pt x="24722" y="1364321"/>
                  <a:pt x="31067" y="1358120"/>
                  <a:pt x="31067" y="1350818"/>
                </a:cubicBezTo>
                <a:cubicBezTo>
                  <a:pt x="31067" y="1333828"/>
                  <a:pt x="21791" y="1299858"/>
                  <a:pt x="17212" y="1281545"/>
                </a:cubicBezTo>
                <a:cubicBezTo>
                  <a:pt x="23651" y="1172101"/>
                  <a:pt x="32578" y="1039413"/>
                  <a:pt x="31067" y="935181"/>
                </a:cubicBezTo>
                <a:cubicBezTo>
                  <a:pt x="29860" y="851935"/>
                  <a:pt x="25105" y="768680"/>
                  <a:pt x="17212" y="685800"/>
                </a:cubicBezTo>
                <a:cubicBezTo>
                  <a:pt x="15827" y="671262"/>
                  <a:pt x="-8793" y="636135"/>
                  <a:pt x="3358" y="644236"/>
                </a:cubicBezTo>
                <a:cubicBezTo>
                  <a:pt x="30215" y="662141"/>
                  <a:pt x="43767" y="673099"/>
                  <a:pt x="51849" y="678872"/>
                </a:cubicBezTo>
                <a:close/>
              </a:path>
            </a:pathLst>
          </a:custGeom>
          <a:solidFill>
            <a:schemeClr val="bg1">
              <a:alpha val="88000"/>
            </a:schemeClr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E0C450-BF86-47EA-B368-8CB84A72ACE9}"/>
              </a:ext>
            </a:extLst>
          </p:cNvPr>
          <p:cNvSpPr/>
          <p:nvPr/>
        </p:nvSpPr>
        <p:spPr>
          <a:xfrm>
            <a:off x="8693635" y="4935463"/>
            <a:ext cx="2087707" cy="1097026"/>
          </a:xfrm>
          <a:custGeom>
            <a:avLst/>
            <a:gdLst>
              <a:gd name="connsiteX0" fmla="*/ 51849 w 2677285"/>
              <a:gd name="connsiteY0" fmla="*/ 678872 h 1607127"/>
              <a:gd name="connsiteX1" fmla="*/ 51849 w 2677285"/>
              <a:gd name="connsiteY1" fmla="*/ 678872 h 1607127"/>
              <a:gd name="connsiteX2" fmla="*/ 183467 w 2677285"/>
              <a:gd name="connsiteY2" fmla="*/ 699654 h 1607127"/>
              <a:gd name="connsiteX3" fmla="*/ 197322 w 2677285"/>
              <a:gd name="connsiteY3" fmla="*/ 720436 h 1607127"/>
              <a:gd name="connsiteX4" fmla="*/ 211176 w 2677285"/>
              <a:gd name="connsiteY4" fmla="*/ 768927 h 1607127"/>
              <a:gd name="connsiteX5" fmla="*/ 225031 w 2677285"/>
              <a:gd name="connsiteY5" fmla="*/ 858981 h 1607127"/>
              <a:gd name="connsiteX6" fmla="*/ 273522 w 2677285"/>
              <a:gd name="connsiteY6" fmla="*/ 838200 h 1607127"/>
              <a:gd name="connsiteX7" fmla="*/ 287376 w 2677285"/>
              <a:gd name="connsiteY7" fmla="*/ 782781 h 1607127"/>
              <a:gd name="connsiteX8" fmla="*/ 308158 w 2677285"/>
              <a:gd name="connsiteY8" fmla="*/ 651163 h 1607127"/>
              <a:gd name="connsiteX9" fmla="*/ 384358 w 2677285"/>
              <a:gd name="connsiteY9" fmla="*/ 658091 h 1607127"/>
              <a:gd name="connsiteX10" fmla="*/ 405140 w 2677285"/>
              <a:gd name="connsiteY10" fmla="*/ 685800 h 1607127"/>
              <a:gd name="connsiteX11" fmla="*/ 425922 w 2677285"/>
              <a:gd name="connsiteY11" fmla="*/ 692727 h 1607127"/>
              <a:gd name="connsiteX12" fmla="*/ 439776 w 2677285"/>
              <a:gd name="connsiteY12" fmla="*/ 713509 h 1607127"/>
              <a:gd name="connsiteX13" fmla="*/ 474412 w 2677285"/>
              <a:gd name="connsiteY13" fmla="*/ 762000 h 1607127"/>
              <a:gd name="connsiteX14" fmla="*/ 495194 w 2677285"/>
              <a:gd name="connsiteY14" fmla="*/ 768927 h 1607127"/>
              <a:gd name="connsiteX15" fmla="*/ 550612 w 2677285"/>
              <a:gd name="connsiteY15" fmla="*/ 762000 h 1607127"/>
              <a:gd name="connsiteX16" fmla="*/ 585249 w 2677285"/>
              <a:gd name="connsiteY16" fmla="*/ 720436 h 1607127"/>
              <a:gd name="connsiteX17" fmla="*/ 599103 w 2677285"/>
              <a:gd name="connsiteY17" fmla="*/ 415636 h 1607127"/>
              <a:gd name="connsiteX18" fmla="*/ 612958 w 2677285"/>
              <a:gd name="connsiteY18" fmla="*/ 381000 h 1607127"/>
              <a:gd name="connsiteX19" fmla="*/ 619885 w 2677285"/>
              <a:gd name="connsiteY19" fmla="*/ 353291 h 1607127"/>
              <a:gd name="connsiteX20" fmla="*/ 647594 w 2677285"/>
              <a:gd name="connsiteY20" fmla="*/ 284018 h 1607127"/>
              <a:gd name="connsiteX21" fmla="*/ 661449 w 2677285"/>
              <a:gd name="connsiteY21" fmla="*/ 27709 h 1607127"/>
              <a:gd name="connsiteX22" fmla="*/ 675303 w 2677285"/>
              <a:gd name="connsiteY22" fmla="*/ 6927 h 1607127"/>
              <a:gd name="connsiteX23" fmla="*/ 703012 w 2677285"/>
              <a:gd name="connsiteY23" fmla="*/ 0 h 1607127"/>
              <a:gd name="connsiteX24" fmla="*/ 772285 w 2677285"/>
              <a:gd name="connsiteY24" fmla="*/ 6927 h 1607127"/>
              <a:gd name="connsiteX25" fmla="*/ 813849 w 2677285"/>
              <a:gd name="connsiteY25" fmla="*/ 69272 h 1607127"/>
              <a:gd name="connsiteX26" fmla="*/ 827703 w 2677285"/>
              <a:gd name="connsiteY26" fmla="*/ 152400 h 1607127"/>
              <a:gd name="connsiteX27" fmla="*/ 834631 w 2677285"/>
              <a:gd name="connsiteY27" fmla="*/ 180109 h 1607127"/>
              <a:gd name="connsiteX28" fmla="*/ 862340 w 2677285"/>
              <a:gd name="connsiteY28" fmla="*/ 235527 h 1607127"/>
              <a:gd name="connsiteX29" fmla="*/ 883122 w 2677285"/>
              <a:gd name="connsiteY29" fmla="*/ 304800 h 1607127"/>
              <a:gd name="connsiteX30" fmla="*/ 890049 w 2677285"/>
              <a:gd name="connsiteY30" fmla="*/ 339436 h 1607127"/>
              <a:gd name="connsiteX31" fmla="*/ 896976 w 2677285"/>
              <a:gd name="connsiteY31" fmla="*/ 360218 h 1607127"/>
              <a:gd name="connsiteX32" fmla="*/ 903903 w 2677285"/>
              <a:gd name="connsiteY32" fmla="*/ 387927 h 1607127"/>
              <a:gd name="connsiteX33" fmla="*/ 924685 w 2677285"/>
              <a:gd name="connsiteY33" fmla="*/ 422563 h 1607127"/>
              <a:gd name="connsiteX34" fmla="*/ 931612 w 2677285"/>
              <a:gd name="connsiteY34" fmla="*/ 443345 h 1607127"/>
              <a:gd name="connsiteX35" fmla="*/ 973176 w 2677285"/>
              <a:gd name="connsiteY35" fmla="*/ 512618 h 1607127"/>
              <a:gd name="connsiteX36" fmla="*/ 1028594 w 2677285"/>
              <a:gd name="connsiteY36" fmla="*/ 588818 h 1607127"/>
              <a:gd name="connsiteX37" fmla="*/ 1056303 w 2677285"/>
              <a:gd name="connsiteY37" fmla="*/ 637309 h 1607127"/>
              <a:gd name="connsiteX38" fmla="*/ 1104794 w 2677285"/>
              <a:gd name="connsiteY38" fmla="*/ 720436 h 1607127"/>
              <a:gd name="connsiteX39" fmla="*/ 1132503 w 2677285"/>
              <a:gd name="connsiteY39" fmla="*/ 748145 h 1607127"/>
              <a:gd name="connsiteX40" fmla="*/ 1160212 w 2677285"/>
              <a:gd name="connsiteY40" fmla="*/ 810491 h 1607127"/>
              <a:gd name="connsiteX41" fmla="*/ 1201776 w 2677285"/>
              <a:gd name="connsiteY41" fmla="*/ 879763 h 1607127"/>
              <a:gd name="connsiteX42" fmla="*/ 1229485 w 2677285"/>
              <a:gd name="connsiteY42" fmla="*/ 893618 h 1607127"/>
              <a:gd name="connsiteX43" fmla="*/ 1354176 w 2677285"/>
              <a:gd name="connsiteY43" fmla="*/ 879763 h 1607127"/>
              <a:gd name="connsiteX44" fmla="*/ 1374958 w 2677285"/>
              <a:gd name="connsiteY44" fmla="*/ 858981 h 1607127"/>
              <a:gd name="connsiteX45" fmla="*/ 1409594 w 2677285"/>
              <a:gd name="connsiteY45" fmla="*/ 845127 h 1607127"/>
              <a:gd name="connsiteX46" fmla="*/ 1458085 w 2677285"/>
              <a:gd name="connsiteY46" fmla="*/ 803563 h 1607127"/>
              <a:gd name="connsiteX47" fmla="*/ 1478867 w 2677285"/>
              <a:gd name="connsiteY47" fmla="*/ 782781 h 1607127"/>
              <a:gd name="connsiteX48" fmla="*/ 1513503 w 2677285"/>
              <a:gd name="connsiteY48" fmla="*/ 755072 h 1607127"/>
              <a:gd name="connsiteX49" fmla="*/ 1534285 w 2677285"/>
              <a:gd name="connsiteY49" fmla="*/ 699654 h 1607127"/>
              <a:gd name="connsiteX50" fmla="*/ 1548140 w 2677285"/>
              <a:gd name="connsiteY50" fmla="*/ 671945 h 1607127"/>
              <a:gd name="connsiteX51" fmla="*/ 1575849 w 2677285"/>
              <a:gd name="connsiteY51" fmla="*/ 658091 h 1607127"/>
              <a:gd name="connsiteX52" fmla="*/ 1596631 w 2677285"/>
              <a:gd name="connsiteY52" fmla="*/ 637309 h 1607127"/>
              <a:gd name="connsiteX53" fmla="*/ 1762885 w 2677285"/>
              <a:gd name="connsiteY53" fmla="*/ 637309 h 1607127"/>
              <a:gd name="connsiteX54" fmla="*/ 1839085 w 2677285"/>
              <a:gd name="connsiteY54" fmla="*/ 658091 h 1607127"/>
              <a:gd name="connsiteX55" fmla="*/ 1846012 w 2677285"/>
              <a:gd name="connsiteY55" fmla="*/ 685800 h 1607127"/>
              <a:gd name="connsiteX56" fmla="*/ 1880649 w 2677285"/>
              <a:gd name="connsiteY56" fmla="*/ 741218 h 1607127"/>
              <a:gd name="connsiteX57" fmla="*/ 1929140 w 2677285"/>
              <a:gd name="connsiteY57" fmla="*/ 803563 h 1607127"/>
              <a:gd name="connsiteX58" fmla="*/ 1963776 w 2677285"/>
              <a:gd name="connsiteY58" fmla="*/ 893618 h 1607127"/>
              <a:gd name="connsiteX59" fmla="*/ 1970703 w 2677285"/>
              <a:gd name="connsiteY59" fmla="*/ 942109 h 1607127"/>
              <a:gd name="connsiteX60" fmla="*/ 1998412 w 2677285"/>
              <a:gd name="connsiteY60" fmla="*/ 1184563 h 1607127"/>
              <a:gd name="connsiteX61" fmla="*/ 2074612 w 2677285"/>
              <a:gd name="connsiteY61" fmla="*/ 1177636 h 1607127"/>
              <a:gd name="connsiteX62" fmla="*/ 2109249 w 2677285"/>
              <a:gd name="connsiteY62" fmla="*/ 1170709 h 1607127"/>
              <a:gd name="connsiteX63" fmla="*/ 2164667 w 2677285"/>
              <a:gd name="connsiteY63" fmla="*/ 1177636 h 1607127"/>
              <a:gd name="connsiteX64" fmla="*/ 2178522 w 2677285"/>
              <a:gd name="connsiteY64" fmla="*/ 1302327 h 1607127"/>
              <a:gd name="connsiteX65" fmla="*/ 2268576 w 2677285"/>
              <a:gd name="connsiteY65" fmla="*/ 1295400 h 1607127"/>
              <a:gd name="connsiteX66" fmla="*/ 2317067 w 2677285"/>
              <a:gd name="connsiteY66" fmla="*/ 1274618 h 1607127"/>
              <a:gd name="connsiteX67" fmla="*/ 2351703 w 2677285"/>
              <a:gd name="connsiteY67" fmla="*/ 1260763 h 1607127"/>
              <a:gd name="connsiteX68" fmla="*/ 2393267 w 2677285"/>
              <a:gd name="connsiteY68" fmla="*/ 1246909 h 1607127"/>
              <a:gd name="connsiteX69" fmla="*/ 2476394 w 2677285"/>
              <a:gd name="connsiteY69" fmla="*/ 1212272 h 1607127"/>
              <a:gd name="connsiteX70" fmla="*/ 2559522 w 2677285"/>
              <a:gd name="connsiteY70" fmla="*/ 1219200 h 1607127"/>
              <a:gd name="connsiteX71" fmla="*/ 2601085 w 2677285"/>
              <a:gd name="connsiteY71" fmla="*/ 1226127 h 1607127"/>
              <a:gd name="connsiteX72" fmla="*/ 2649576 w 2677285"/>
              <a:gd name="connsiteY72" fmla="*/ 1233054 h 1607127"/>
              <a:gd name="connsiteX73" fmla="*/ 2670358 w 2677285"/>
              <a:gd name="connsiteY73" fmla="*/ 1246909 h 1607127"/>
              <a:gd name="connsiteX74" fmla="*/ 2677285 w 2677285"/>
              <a:gd name="connsiteY74" fmla="*/ 1267691 h 1607127"/>
              <a:gd name="connsiteX75" fmla="*/ 2670358 w 2677285"/>
              <a:gd name="connsiteY75" fmla="*/ 1385454 h 1607127"/>
              <a:gd name="connsiteX76" fmla="*/ 2656503 w 2677285"/>
              <a:gd name="connsiteY76" fmla="*/ 1420091 h 1607127"/>
              <a:gd name="connsiteX77" fmla="*/ 2420976 w 2677285"/>
              <a:gd name="connsiteY77" fmla="*/ 1427018 h 1607127"/>
              <a:gd name="connsiteX78" fmla="*/ 2434831 w 2677285"/>
              <a:gd name="connsiteY78" fmla="*/ 1475509 h 1607127"/>
              <a:gd name="connsiteX79" fmla="*/ 2420976 w 2677285"/>
              <a:gd name="connsiteY79" fmla="*/ 1517072 h 1607127"/>
              <a:gd name="connsiteX80" fmla="*/ 2414049 w 2677285"/>
              <a:gd name="connsiteY80" fmla="*/ 1551709 h 1607127"/>
              <a:gd name="connsiteX81" fmla="*/ 2393267 w 2677285"/>
              <a:gd name="connsiteY81" fmla="*/ 1572491 h 1607127"/>
              <a:gd name="connsiteX82" fmla="*/ 2379412 w 2677285"/>
              <a:gd name="connsiteY82" fmla="*/ 1593272 h 1607127"/>
              <a:gd name="connsiteX83" fmla="*/ 2337849 w 2677285"/>
              <a:gd name="connsiteY83" fmla="*/ 1607127 h 1607127"/>
              <a:gd name="connsiteX84" fmla="*/ 2275503 w 2677285"/>
              <a:gd name="connsiteY84" fmla="*/ 1586345 h 1607127"/>
              <a:gd name="connsiteX85" fmla="*/ 2220085 w 2677285"/>
              <a:gd name="connsiteY85" fmla="*/ 1558636 h 1607127"/>
              <a:gd name="connsiteX86" fmla="*/ 2185449 w 2677285"/>
              <a:gd name="connsiteY86" fmla="*/ 1510145 h 1607127"/>
              <a:gd name="connsiteX87" fmla="*/ 2164667 w 2677285"/>
              <a:gd name="connsiteY87" fmla="*/ 1475509 h 1607127"/>
              <a:gd name="connsiteX88" fmla="*/ 2150812 w 2677285"/>
              <a:gd name="connsiteY88" fmla="*/ 1454727 h 1607127"/>
              <a:gd name="connsiteX89" fmla="*/ 2130031 w 2677285"/>
              <a:gd name="connsiteY89" fmla="*/ 1447800 h 1607127"/>
              <a:gd name="connsiteX90" fmla="*/ 1700540 w 2677285"/>
              <a:gd name="connsiteY90" fmla="*/ 1454727 h 1607127"/>
              <a:gd name="connsiteX91" fmla="*/ 1652049 w 2677285"/>
              <a:gd name="connsiteY91" fmla="*/ 1468581 h 1607127"/>
              <a:gd name="connsiteX92" fmla="*/ 1409594 w 2677285"/>
              <a:gd name="connsiteY92" fmla="*/ 1454727 h 1607127"/>
              <a:gd name="connsiteX93" fmla="*/ 1271049 w 2677285"/>
              <a:gd name="connsiteY93" fmla="*/ 1454727 h 1607127"/>
              <a:gd name="connsiteX94" fmla="*/ 1236412 w 2677285"/>
              <a:gd name="connsiteY94" fmla="*/ 1468581 h 1607127"/>
              <a:gd name="connsiteX95" fmla="*/ 1208703 w 2677285"/>
              <a:gd name="connsiteY95" fmla="*/ 1489363 h 1607127"/>
              <a:gd name="connsiteX96" fmla="*/ 1084012 w 2677285"/>
              <a:gd name="connsiteY96" fmla="*/ 1496291 h 1607127"/>
              <a:gd name="connsiteX97" fmla="*/ 1056303 w 2677285"/>
              <a:gd name="connsiteY97" fmla="*/ 1503218 h 1607127"/>
              <a:gd name="connsiteX98" fmla="*/ 987031 w 2677285"/>
              <a:gd name="connsiteY98" fmla="*/ 1530927 h 1607127"/>
              <a:gd name="connsiteX99" fmla="*/ 813849 w 2677285"/>
              <a:gd name="connsiteY99" fmla="*/ 1537854 h 1607127"/>
              <a:gd name="connsiteX100" fmla="*/ 730722 w 2677285"/>
              <a:gd name="connsiteY100" fmla="*/ 1551709 h 1607127"/>
              <a:gd name="connsiteX101" fmla="*/ 661449 w 2677285"/>
              <a:gd name="connsiteY101" fmla="*/ 1565563 h 1607127"/>
              <a:gd name="connsiteX102" fmla="*/ 536758 w 2677285"/>
              <a:gd name="connsiteY102" fmla="*/ 1572491 h 1607127"/>
              <a:gd name="connsiteX103" fmla="*/ 44922 w 2677285"/>
              <a:gd name="connsiteY103" fmla="*/ 1565563 h 1607127"/>
              <a:gd name="connsiteX104" fmla="*/ 17212 w 2677285"/>
              <a:gd name="connsiteY104" fmla="*/ 1524000 h 1607127"/>
              <a:gd name="connsiteX105" fmla="*/ 24140 w 2677285"/>
              <a:gd name="connsiteY105" fmla="*/ 1371600 h 1607127"/>
              <a:gd name="connsiteX106" fmla="*/ 31067 w 2677285"/>
              <a:gd name="connsiteY106" fmla="*/ 1350818 h 1607127"/>
              <a:gd name="connsiteX107" fmla="*/ 17212 w 2677285"/>
              <a:gd name="connsiteY107" fmla="*/ 1281545 h 1607127"/>
              <a:gd name="connsiteX108" fmla="*/ 31067 w 2677285"/>
              <a:gd name="connsiteY108" fmla="*/ 935181 h 1607127"/>
              <a:gd name="connsiteX109" fmla="*/ 17212 w 2677285"/>
              <a:gd name="connsiteY109" fmla="*/ 685800 h 1607127"/>
              <a:gd name="connsiteX110" fmla="*/ 3358 w 2677285"/>
              <a:gd name="connsiteY110" fmla="*/ 644236 h 1607127"/>
              <a:gd name="connsiteX111" fmla="*/ 51849 w 2677285"/>
              <a:gd name="connsiteY111" fmla="*/ 678872 h 1607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2677285" h="1607127">
                <a:moveTo>
                  <a:pt x="51849" y="678872"/>
                </a:moveTo>
                <a:lnTo>
                  <a:pt x="51849" y="678872"/>
                </a:lnTo>
                <a:cubicBezTo>
                  <a:pt x="95722" y="685799"/>
                  <a:pt x="140760" y="687452"/>
                  <a:pt x="183467" y="699654"/>
                </a:cubicBezTo>
                <a:cubicBezTo>
                  <a:pt x="191472" y="701941"/>
                  <a:pt x="194230" y="712706"/>
                  <a:pt x="197322" y="720436"/>
                </a:cubicBezTo>
                <a:cubicBezTo>
                  <a:pt x="203565" y="736044"/>
                  <a:pt x="207099" y="752618"/>
                  <a:pt x="211176" y="768927"/>
                </a:cubicBezTo>
                <a:cubicBezTo>
                  <a:pt x="219109" y="800659"/>
                  <a:pt x="220825" y="825335"/>
                  <a:pt x="225031" y="858981"/>
                </a:cubicBezTo>
                <a:cubicBezTo>
                  <a:pt x="235808" y="856287"/>
                  <a:pt x="266688" y="851868"/>
                  <a:pt x="273522" y="838200"/>
                </a:cubicBezTo>
                <a:cubicBezTo>
                  <a:pt x="282038" y="821169"/>
                  <a:pt x="283642" y="801453"/>
                  <a:pt x="287376" y="782781"/>
                </a:cubicBezTo>
                <a:cubicBezTo>
                  <a:pt x="305332" y="693005"/>
                  <a:pt x="298631" y="736913"/>
                  <a:pt x="308158" y="651163"/>
                </a:cubicBezTo>
                <a:cubicBezTo>
                  <a:pt x="333558" y="653472"/>
                  <a:pt x="360339" y="649513"/>
                  <a:pt x="384358" y="658091"/>
                </a:cubicBezTo>
                <a:cubicBezTo>
                  <a:pt x="395231" y="661974"/>
                  <a:pt x="396270" y="678409"/>
                  <a:pt x="405140" y="685800"/>
                </a:cubicBezTo>
                <a:cubicBezTo>
                  <a:pt x="410750" y="690475"/>
                  <a:pt x="418995" y="690418"/>
                  <a:pt x="425922" y="692727"/>
                </a:cubicBezTo>
                <a:cubicBezTo>
                  <a:pt x="430540" y="699654"/>
                  <a:pt x="435645" y="706280"/>
                  <a:pt x="439776" y="713509"/>
                </a:cubicBezTo>
                <a:cubicBezTo>
                  <a:pt x="453110" y="736843"/>
                  <a:pt x="450980" y="746379"/>
                  <a:pt x="474412" y="762000"/>
                </a:cubicBezTo>
                <a:cubicBezTo>
                  <a:pt x="480488" y="766050"/>
                  <a:pt x="488267" y="766618"/>
                  <a:pt x="495194" y="768927"/>
                </a:cubicBezTo>
                <a:cubicBezTo>
                  <a:pt x="513667" y="766618"/>
                  <a:pt x="533116" y="768362"/>
                  <a:pt x="550612" y="762000"/>
                </a:cubicBezTo>
                <a:cubicBezTo>
                  <a:pt x="562346" y="757733"/>
                  <a:pt x="578652" y="730331"/>
                  <a:pt x="585249" y="720436"/>
                </a:cubicBezTo>
                <a:cubicBezTo>
                  <a:pt x="616262" y="596380"/>
                  <a:pt x="575653" y="767389"/>
                  <a:pt x="599103" y="415636"/>
                </a:cubicBezTo>
                <a:cubicBezTo>
                  <a:pt x="599930" y="403229"/>
                  <a:pt x="609026" y="392797"/>
                  <a:pt x="612958" y="381000"/>
                </a:cubicBezTo>
                <a:cubicBezTo>
                  <a:pt x="615969" y="371968"/>
                  <a:pt x="616683" y="362257"/>
                  <a:pt x="619885" y="353291"/>
                </a:cubicBezTo>
                <a:cubicBezTo>
                  <a:pt x="628250" y="329870"/>
                  <a:pt x="638358" y="307109"/>
                  <a:pt x="647594" y="284018"/>
                </a:cubicBezTo>
                <a:cubicBezTo>
                  <a:pt x="652212" y="198582"/>
                  <a:pt x="652935" y="112845"/>
                  <a:pt x="661449" y="27709"/>
                </a:cubicBezTo>
                <a:cubicBezTo>
                  <a:pt x="662277" y="19425"/>
                  <a:pt x="668376" y="11545"/>
                  <a:pt x="675303" y="6927"/>
                </a:cubicBezTo>
                <a:cubicBezTo>
                  <a:pt x="683225" y="1646"/>
                  <a:pt x="693776" y="2309"/>
                  <a:pt x="703012" y="0"/>
                </a:cubicBezTo>
                <a:lnTo>
                  <a:pt x="772285" y="6927"/>
                </a:lnTo>
                <a:cubicBezTo>
                  <a:pt x="793465" y="20164"/>
                  <a:pt x="813849" y="69272"/>
                  <a:pt x="813849" y="69272"/>
                </a:cubicBezTo>
                <a:cubicBezTo>
                  <a:pt x="818467" y="96981"/>
                  <a:pt x="822526" y="124790"/>
                  <a:pt x="827703" y="152400"/>
                </a:cubicBezTo>
                <a:cubicBezTo>
                  <a:pt x="829458" y="161758"/>
                  <a:pt x="830969" y="171321"/>
                  <a:pt x="834631" y="180109"/>
                </a:cubicBezTo>
                <a:cubicBezTo>
                  <a:pt x="842575" y="199173"/>
                  <a:pt x="862340" y="235527"/>
                  <a:pt x="862340" y="235527"/>
                </a:cubicBezTo>
                <a:cubicBezTo>
                  <a:pt x="880334" y="325501"/>
                  <a:pt x="855781" y="213664"/>
                  <a:pt x="883122" y="304800"/>
                </a:cubicBezTo>
                <a:cubicBezTo>
                  <a:pt x="886505" y="316077"/>
                  <a:pt x="887193" y="328014"/>
                  <a:pt x="890049" y="339436"/>
                </a:cubicBezTo>
                <a:cubicBezTo>
                  <a:pt x="891820" y="346520"/>
                  <a:pt x="894970" y="353197"/>
                  <a:pt x="896976" y="360218"/>
                </a:cubicBezTo>
                <a:cubicBezTo>
                  <a:pt x="899591" y="369372"/>
                  <a:pt x="900036" y="379227"/>
                  <a:pt x="903903" y="387927"/>
                </a:cubicBezTo>
                <a:cubicBezTo>
                  <a:pt x="909371" y="400231"/>
                  <a:pt x="918664" y="410520"/>
                  <a:pt x="924685" y="422563"/>
                </a:cubicBezTo>
                <a:cubicBezTo>
                  <a:pt x="927951" y="429094"/>
                  <a:pt x="928150" y="436916"/>
                  <a:pt x="931612" y="443345"/>
                </a:cubicBezTo>
                <a:cubicBezTo>
                  <a:pt x="944379" y="467055"/>
                  <a:pt x="956354" y="491590"/>
                  <a:pt x="973176" y="512618"/>
                </a:cubicBezTo>
                <a:cubicBezTo>
                  <a:pt x="1000659" y="546972"/>
                  <a:pt x="1004653" y="549913"/>
                  <a:pt x="1028594" y="588818"/>
                </a:cubicBezTo>
                <a:cubicBezTo>
                  <a:pt x="1038351" y="604673"/>
                  <a:pt x="1047477" y="620918"/>
                  <a:pt x="1056303" y="637309"/>
                </a:cubicBezTo>
                <a:cubicBezTo>
                  <a:pt x="1077267" y="676241"/>
                  <a:pt x="1076303" y="684822"/>
                  <a:pt x="1104794" y="720436"/>
                </a:cubicBezTo>
                <a:cubicBezTo>
                  <a:pt x="1112954" y="730636"/>
                  <a:pt x="1123267" y="738909"/>
                  <a:pt x="1132503" y="748145"/>
                </a:cubicBezTo>
                <a:cubicBezTo>
                  <a:pt x="1158617" y="826486"/>
                  <a:pt x="1132770" y="761094"/>
                  <a:pt x="1160212" y="810491"/>
                </a:cubicBezTo>
                <a:cubicBezTo>
                  <a:pt x="1171281" y="830416"/>
                  <a:pt x="1182788" y="863488"/>
                  <a:pt x="1201776" y="879763"/>
                </a:cubicBezTo>
                <a:cubicBezTo>
                  <a:pt x="1209617" y="886483"/>
                  <a:pt x="1220249" y="889000"/>
                  <a:pt x="1229485" y="893618"/>
                </a:cubicBezTo>
                <a:cubicBezTo>
                  <a:pt x="1271049" y="889000"/>
                  <a:pt x="1313494" y="889449"/>
                  <a:pt x="1354176" y="879763"/>
                </a:cubicBezTo>
                <a:cubicBezTo>
                  <a:pt x="1363706" y="877494"/>
                  <a:pt x="1366650" y="864173"/>
                  <a:pt x="1374958" y="858981"/>
                </a:cubicBezTo>
                <a:cubicBezTo>
                  <a:pt x="1385503" y="852391"/>
                  <a:pt x="1398049" y="849745"/>
                  <a:pt x="1409594" y="845127"/>
                </a:cubicBezTo>
                <a:cubicBezTo>
                  <a:pt x="1461162" y="793559"/>
                  <a:pt x="1395879" y="856883"/>
                  <a:pt x="1458085" y="803563"/>
                </a:cubicBezTo>
                <a:cubicBezTo>
                  <a:pt x="1465523" y="797187"/>
                  <a:pt x="1471494" y="789232"/>
                  <a:pt x="1478867" y="782781"/>
                </a:cubicBezTo>
                <a:cubicBezTo>
                  <a:pt x="1489994" y="773045"/>
                  <a:pt x="1501958" y="764308"/>
                  <a:pt x="1513503" y="755072"/>
                </a:cubicBezTo>
                <a:cubicBezTo>
                  <a:pt x="1524281" y="701186"/>
                  <a:pt x="1512332" y="738072"/>
                  <a:pt x="1534285" y="699654"/>
                </a:cubicBezTo>
                <a:cubicBezTo>
                  <a:pt x="1539408" y="690688"/>
                  <a:pt x="1540838" y="679247"/>
                  <a:pt x="1548140" y="671945"/>
                </a:cubicBezTo>
                <a:cubicBezTo>
                  <a:pt x="1555442" y="664643"/>
                  <a:pt x="1566613" y="662709"/>
                  <a:pt x="1575849" y="658091"/>
                </a:cubicBezTo>
                <a:cubicBezTo>
                  <a:pt x="1582776" y="651164"/>
                  <a:pt x="1587535" y="640948"/>
                  <a:pt x="1596631" y="637309"/>
                </a:cubicBezTo>
                <a:cubicBezTo>
                  <a:pt x="1635059" y="621937"/>
                  <a:pt x="1746805" y="636363"/>
                  <a:pt x="1762885" y="637309"/>
                </a:cubicBezTo>
                <a:cubicBezTo>
                  <a:pt x="1815619" y="654886"/>
                  <a:pt x="1790129" y="648299"/>
                  <a:pt x="1839085" y="658091"/>
                </a:cubicBezTo>
                <a:cubicBezTo>
                  <a:pt x="1841394" y="667327"/>
                  <a:pt x="1842145" y="677100"/>
                  <a:pt x="1846012" y="685800"/>
                </a:cubicBezTo>
                <a:cubicBezTo>
                  <a:pt x="1848857" y="692202"/>
                  <a:pt x="1873066" y="731107"/>
                  <a:pt x="1880649" y="741218"/>
                </a:cubicBezTo>
                <a:cubicBezTo>
                  <a:pt x="1896446" y="762280"/>
                  <a:pt x="1918769" y="779364"/>
                  <a:pt x="1929140" y="803563"/>
                </a:cubicBezTo>
                <a:cubicBezTo>
                  <a:pt x="1955675" y="865477"/>
                  <a:pt x="1944361" y="835371"/>
                  <a:pt x="1963776" y="893618"/>
                </a:cubicBezTo>
                <a:cubicBezTo>
                  <a:pt x="1966085" y="909782"/>
                  <a:pt x="1969907" y="925801"/>
                  <a:pt x="1970703" y="942109"/>
                </a:cubicBezTo>
                <a:cubicBezTo>
                  <a:pt x="1982626" y="1186528"/>
                  <a:pt x="1902674" y="1152650"/>
                  <a:pt x="1998412" y="1184563"/>
                </a:cubicBezTo>
                <a:cubicBezTo>
                  <a:pt x="2023812" y="1182254"/>
                  <a:pt x="2049304" y="1180799"/>
                  <a:pt x="2074612" y="1177636"/>
                </a:cubicBezTo>
                <a:cubicBezTo>
                  <a:pt x="2086295" y="1176176"/>
                  <a:pt x="2097475" y="1170709"/>
                  <a:pt x="2109249" y="1170709"/>
                </a:cubicBezTo>
                <a:cubicBezTo>
                  <a:pt x="2127865" y="1170709"/>
                  <a:pt x="2146194" y="1175327"/>
                  <a:pt x="2164667" y="1177636"/>
                </a:cubicBezTo>
                <a:cubicBezTo>
                  <a:pt x="2169285" y="1219200"/>
                  <a:pt x="2150853" y="1270969"/>
                  <a:pt x="2178522" y="1302327"/>
                </a:cubicBezTo>
                <a:cubicBezTo>
                  <a:pt x="2198441" y="1324902"/>
                  <a:pt x="2238702" y="1299134"/>
                  <a:pt x="2268576" y="1295400"/>
                </a:cubicBezTo>
                <a:cubicBezTo>
                  <a:pt x="2283419" y="1293545"/>
                  <a:pt x="2305080" y="1279946"/>
                  <a:pt x="2317067" y="1274618"/>
                </a:cubicBezTo>
                <a:cubicBezTo>
                  <a:pt x="2328430" y="1269568"/>
                  <a:pt x="2340017" y="1265012"/>
                  <a:pt x="2351703" y="1260763"/>
                </a:cubicBezTo>
                <a:cubicBezTo>
                  <a:pt x="2365428" y="1255772"/>
                  <a:pt x="2380205" y="1253440"/>
                  <a:pt x="2393267" y="1246909"/>
                </a:cubicBezTo>
                <a:cubicBezTo>
                  <a:pt x="2457201" y="1214942"/>
                  <a:pt x="2428649" y="1224210"/>
                  <a:pt x="2476394" y="1212272"/>
                </a:cubicBezTo>
                <a:cubicBezTo>
                  <a:pt x="2504103" y="1214581"/>
                  <a:pt x="2531887" y="1216129"/>
                  <a:pt x="2559522" y="1219200"/>
                </a:cubicBezTo>
                <a:cubicBezTo>
                  <a:pt x="2573482" y="1220751"/>
                  <a:pt x="2587203" y="1223991"/>
                  <a:pt x="2601085" y="1226127"/>
                </a:cubicBezTo>
                <a:cubicBezTo>
                  <a:pt x="2617223" y="1228610"/>
                  <a:pt x="2633412" y="1230745"/>
                  <a:pt x="2649576" y="1233054"/>
                </a:cubicBezTo>
                <a:cubicBezTo>
                  <a:pt x="2656503" y="1237672"/>
                  <a:pt x="2665157" y="1240408"/>
                  <a:pt x="2670358" y="1246909"/>
                </a:cubicBezTo>
                <a:cubicBezTo>
                  <a:pt x="2674919" y="1252611"/>
                  <a:pt x="2677285" y="1260389"/>
                  <a:pt x="2677285" y="1267691"/>
                </a:cubicBezTo>
                <a:cubicBezTo>
                  <a:pt x="2677285" y="1307013"/>
                  <a:pt x="2675671" y="1346492"/>
                  <a:pt x="2670358" y="1385454"/>
                </a:cubicBezTo>
                <a:cubicBezTo>
                  <a:pt x="2668678" y="1397775"/>
                  <a:pt x="2668769" y="1418047"/>
                  <a:pt x="2656503" y="1420091"/>
                </a:cubicBezTo>
                <a:cubicBezTo>
                  <a:pt x="2579029" y="1433003"/>
                  <a:pt x="2499485" y="1424709"/>
                  <a:pt x="2420976" y="1427018"/>
                </a:cubicBezTo>
                <a:cubicBezTo>
                  <a:pt x="2423729" y="1435276"/>
                  <a:pt x="2435500" y="1468821"/>
                  <a:pt x="2434831" y="1475509"/>
                </a:cubicBezTo>
                <a:cubicBezTo>
                  <a:pt x="2433378" y="1490040"/>
                  <a:pt x="2424819" y="1502983"/>
                  <a:pt x="2420976" y="1517072"/>
                </a:cubicBezTo>
                <a:cubicBezTo>
                  <a:pt x="2417878" y="1528431"/>
                  <a:pt x="2419315" y="1541178"/>
                  <a:pt x="2414049" y="1551709"/>
                </a:cubicBezTo>
                <a:cubicBezTo>
                  <a:pt x="2409668" y="1560471"/>
                  <a:pt x="2399539" y="1564965"/>
                  <a:pt x="2393267" y="1572491"/>
                </a:cubicBezTo>
                <a:cubicBezTo>
                  <a:pt x="2387937" y="1578887"/>
                  <a:pt x="2386472" y="1588860"/>
                  <a:pt x="2379412" y="1593272"/>
                </a:cubicBezTo>
                <a:cubicBezTo>
                  <a:pt x="2367028" y="1601012"/>
                  <a:pt x="2351703" y="1602509"/>
                  <a:pt x="2337849" y="1607127"/>
                </a:cubicBezTo>
                <a:cubicBezTo>
                  <a:pt x="2307758" y="1599605"/>
                  <a:pt x="2306333" y="1600574"/>
                  <a:pt x="2275503" y="1586345"/>
                </a:cubicBezTo>
                <a:cubicBezTo>
                  <a:pt x="2256751" y="1577690"/>
                  <a:pt x="2220085" y="1558636"/>
                  <a:pt x="2220085" y="1558636"/>
                </a:cubicBezTo>
                <a:cubicBezTo>
                  <a:pt x="2208540" y="1542472"/>
                  <a:pt x="2196467" y="1526672"/>
                  <a:pt x="2185449" y="1510145"/>
                </a:cubicBezTo>
                <a:cubicBezTo>
                  <a:pt x="2177980" y="1498942"/>
                  <a:pt x="2171803" y="1486926"/>
                  <a:pt x="2164667" y="1475509"/>
                </a:cubicBezTo>
                <a:cubicBezTo>
                  <a:pt x="2160254" y="1468449"/>
                  <a:pt x="2157313" y="1459928"/>
                  <a:pt x="2150812" y="1454727"/>
                </a:cubicBezTo>
                <a:cubicBezTo>
                  <a:pt x="2145110" y="1450166"/>
                  <a:pt x="2136958" y="1450109"/>
                  <a:pt x="2130031" y="1447800"/>
                </a:cubicBezTo>
                <a:cubicBezTo>
                  <a:pt x="1986867" y="1450109"/>
                  <a:pt x="1843587" y="1448508"/>
                  <a:pt x="1700540" y="1454727"/>
                </a:cubicBezTo>
                <a:cubicBezTo>
                  <a:pt x="1683745" y="1455457"/>
                  <a:pt x="1668859" y="1468581"/>
                  <a:pt x="1652049" y="1468581"/>
                </a:cubicBezTo>
                <a:cubicBezTo>
                  <a:pt x="1571099" y="1468581"/>
                  <a:pt x="1409594" y="1454727"/>
                  <a:pt x="1409594" y="1454727"/>
                </a:cubicBezTo>
                <a:cubicBezTo>
                  <a:pt x="1348877" y="1444608"/>
                  <a:pt x="1352472" y="1441871"/>
                  <a:pt x="1271049" y="1454727"/>
                </a:cubicBezTo>
                <a:cubicBezTo>
                  <a:pt x="1258766" y="1456666"/>
                  <a:pt x="1247282" y="1462542"/>
                  <a:pt x="1236412" y="1468581"/>
                </a:cubicBezTo>
                <a:cubicBezTo>
                  <a:pt x="1226319" y="1474188"/>
                  <a:pt x="1220062" y="1487298"/>
                  <a:pt x="1208703" y="1489363"/>
                </a:cubicBezTo>
                <a:cubicBezTo>
                  <a:pt x="1167747" y="1496810"/>
                  <a:pt x="1125576" y="1493982"/>
                  <a:pt x="1084012" y="1496291"/>
                </a:cubicBezTo>
                <a:cubicBezTo>
                  <a:pt x="1074776" y="1498600"/>
                  <a:pt x="1065269" y="1500016"/>
                  <a:pt x="1056303" y="1503218"/>
                </a:cubicBezTo>
                <a:cubicBezTo>
                  <a:pt x="1032882" y="1511582"/>
                  <a:pt x="1011881" y="1529933"/>
                  <a:pt x="987031" y="1530927"/>
                </a:cubicBezTo>
                <a:lnTo>
                  <a:pt x="813849" y="1537854"/>
                </a:lnTo>
                <a:cubicBezTo>
                  <a:pt x="786140" y="1542472"/>
                  <a:pt x="758268" y="1546200"/>
                  <a:pt x="730722" y="1551709"/>
                </a:cubicBezTo>
                <a:cubicBezTo>
                  <a:pt x="667204" y="1564413"/>
                  <a:pt x="778092" y="1556231"/>
                  <a:pt x="661449" y="1565563"/>
                </a:cubicBezTo>
                <a:cubicBezTo>
                  <a:pt x="619954" y="1568883"/>
                  <a:pt x="578322" y="1570182"/>
                  <a:pt x="536758" y="1572491"/>
                </a:cubicBezTo>
                <a:lnTo>
                  <a:pt x="44922" y="1565563"/>
                </a:lnTo>
                <a:cubicBezTo>
                  <a:pt x="14938" y="1564753"/>
                  <a:pt x="22399" y="1549930"/>
                  <a:pt x="17212" y="1524000"/>
                </a:cubicBezTo>
                <a:cubicBezTo>
                  <a:pt x="19521" y="1473200"/>
                  <a:pt x="20085" y="1422291"/>
                  <a:pt x="24140" y="1371600"/>
                </a:cubicBezTo>
                <a:cubicBezTo>
                  <a:pt x="24722" y="1364321"/>
                  <a:pt x="31067" y="1358120"/>
                  <a:pt x="31067" y="1350818"/>
                </a:cubicBezTo>
                <a:cubicBezTo>
                  <a:pt x="31067" y="1333828"/>
                  <a:pt x="21791" y="1299858"/>
                  <a:pt x="17212" y="1281545"/>
                </a:cubicBezTo>
                <a:cubicBezTo>
                  <a:pt x="23651" y="1172101"/>
                  <a:pt x="32578" y="1039413"/>
                  <a:pt x="31067" y="935181"/>
                </a:cubicBezTo>
                <a:cubicBezTo>
                  <a:pt x="29860" y="851935"/>
                  <a:pt x="25105" y="768680"/>
                  <a:pt x="17212" y="685800"/>
                </a:cubicBezTo>
                <a:cubicBezTo>
                  <a:pt x="15827" y="671262"/>
                  <a:pt x="-8793" y="636135"/>
                  <a:pt x="3358" y="644236"/>
                </a:cubicBezTo>
                <a:cubicBezTo>
                  <a:pt x="30215" y="662141"/>
                  <a:pt x="43767" y="673099"/>
                  <a:pt x="51849" y="678872"/>
                </a:cubicBezTo>
                <a:close/>
              </a:path>
            </a:pathLst>
          </a:custGeom>
          <a:solidFill>
            <a:schemeClr val="bg1">
              <a:alpha val="7000"/>
            </a:schemeClr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9FB5F-E090-4F85-80ED-3B068ADF731D}"/>
              </a:ext>
            </a:extLst>
          </p:cNvPr>
          <p:cNvSpPr txBox="1"/>
          <p:nvPr/>
        </p:nvSpPr>
        <p:spPr>
          <a:xfrm>
            <a:off x="10933021" y="6193632"/>
            <a:ext cx="1440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</a:rPr>
              <a:t>Jen Johnson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9AD72-3C86-4048-BF5F-A44C577D8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207" y="1060915"/>
            <a:ext cx="3367208" cy="226207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F6996-E366-457F-BE7E-1E5891FF4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633" y="1145498"/>
            <a:ext cx="3134724" cy="208981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E527CF3-4AE0-4C1E-8BE3-27081BF4F4A8}"/>
              </a:ext>
            </a:extLst>
          </p:cNvPr>
          <p:cNvSpPr/>
          <p:nvPr/>
        </p:nvSpPr>
        <p:spPr>
          <a:xfrm rot="16200000">
            <a:off x="6580306" y="-2115938"/>
            <a:ext cx="2498045" cy="8591827"/>
          </a:xfrm>
          <a:prstGeom prst="round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BADD162-E512-4C7B-A7BA-8A65B45615AD}"/>
              </a:ext>
            </a:extLst>
          </p:cNvPr>
          <p:cNvSpPr/>
          <p:nvPr/>
        </p:nvSpPr>
        <p:spPr>
          <a:xfrm rot="16200000">
            <a:off x="6499647" y="950824"/>
            <a:ext cx="2659364" cy="8591827"/>
          </a:xfrm>
          <a:prstGeom prst="round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318326-69C6-4784-9716-CCF78E620725}"/>
              </a:ext>
            </a:extLst>
          </p:cNvPr>
          <p:cNvSpPr txBox="1"/>
          <p:nvPr/>
        </p:nvSpPr>
        <p:spPr>
          <a:xfrm>
            <a:off x="4546600" y="382009"/>
            <a:ext cx="3367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Current models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24DD21-D3D4-4D2A-B161-A7165E675949}"/>
              </a:ext>
            </a:extLst>
          </p:cNvPr>
          <p:cNvSpPr txBox="1"/>
          <p:nvPr/>
        </p:nvSpPr>
        <p:spPr>
          <a:xfrm>
            <a:off x="8759633" y="345728"/>
            <a:ext cx="3134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Improved models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F2C240-D245-445A-8C10-7F443ABD5177}"/>
              </a:ext>
            </a:extLst>
          </p:cNvPr>
          <p:cNvSpPr txBox="1"/>
          <p:nvPr/>
        </p:nvSpPr>
        <p:spPr>
          <a:xfrm rot="16200000">
            <a:off x="2769378" y="1764477"/>
            <a:ext cx="2498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Within-pixel variability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9A91F0-2222-48F6-8CB9-5B547A66D4DF}"/>
              </a:ext>
            </a:extLst>
          </p:cNvPr>
          <p:cNvSpPr txBox="1"/>
          <p:nvPr/>
        </p:nvSpPr>
        <p:spPr>
          <a:xfrm rot="16200000">
            <a:off x="2795549" y="4880613"/>
            <a:ext cx="2498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Coarse woody debris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F3EBD7-B699-DCA6-3F1A-FCD0C451A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14" y="268213"/>
            <a:ext cx="3139124" cy="3893884"/>
          </a:xfrm>
          <a:solidFill>
            <a:srgbClr val="FFFFFF">
              <a:alpha val="87843"/>
            </a:srgb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“Develop and employ a new fuel measurement and mapping system to resolve essential fuel components and spatial fuels heterogeneity at multiple scales.” </a:t>
            </a:r>
          </a:p>
          <a:p>
            <a:pPr marL="0" indent="0">
              <a:buNone/>
            </a:pPr>
            <a:r>
              <a:rPr lang="en-US" sz="1700" dirty="0"/>
              <a:t>Project Narrative, GFO-18-301. “Wildfire: Assessing and Preparing for Risks and Climate Change”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8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7D5078-830E-8ADF-465B-B228B8B7D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62"/>
            <a:ext cx="12192000" cy="636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ree, outdoor, ground, wood&#10;&#10;Description automatically generated">
            <a:extLst>
              <a:ext uri="{FF2B5EF4-FFF2-40B4-BE49-F238E27FC236}">
                <a16:creationId xmlns:a16="http://schemas.microsoft.com/office/drawing/2014/main" id="{00E05FBB-FF6C-1CF3-B558-990AD62921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86"/>
          <a:stretch/>
        </p:blipFill>
        <p:spPr>
          <a:xfrm>
            <a:off x="7767828" y="0"/>
            <a:ext cx="4424172" cy="6858000"/>
          </a:xfrm>
          <a:prstGeom prst="rect">
            <a:avLst/>
          </a:prstGeom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708A77C-5E5A-4E19-B095-274662CEB024}"/>
              </a:ext>
            </a:extLst>
          </p:cNvPr>
          <p:cNvSpPr/>
          <p:nvPr/>
        </p:nvSpPr>
        <p:spPr>
          <a:xfrm>
            <a:off x="128439" y="154141"/>
            <a:ext cx="6422425" cy="70171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0A6C3-D990-4421-8536-32A74F60A058}"/>
              </a:ext>
            </a:extLst>
          </p:cNvPr>
          <p:cNvSpPr txBox="1"/>
          <p:nvPr/>
        </p:nvSpPr>
        <p:spPr>
          <a:xfrm>
            <a:off x="1536193" y="316753"/>
            <a:ext cx="28381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Spatial Effect Magnitude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7701FC2C-053E-4FAB-AD37-39BCF1913727}"/>
              </a:ext>
            </a:extLst>
          </p:cNvPr>
          <p:cNvSpPr/>
          <p:nvPr/>
        </p:nvSpPr>
        <p:spPr>
          <a:xfrm rot="5400000">
            <a:off x="4043381" y="3162229"/>
            <a:ext cx="6380056" cy="70637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13A75-BD67-494C-B2B6-45A7F4D7E1B6}"/>
              </a:ext>
            </a:extLst>
          </p:cNvPr>
          <p:cNvSpPr txBox="1"/>
          <p:nvPr/>
        </p:nvSpPr>
        <p:spPr>
          <a:xfrm rot="5400000">
            <a:off x="5823708" y="3483306"/>
            <a:ext cx="281940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Spatial Effect Range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73A90-CCA0-4304-B6BE-649D0DA700ED}"/>
              </a:ext>
            </a:extLst>
          </p:cNvPr>
          <p:cNvSpPr txBox="1"/>
          <p:nvPr/>
        </p:nvSpPr>
        <p:spPr>
          <a:xfrm>
            <a:off x="10305269" y="6443832"/>
            <a:ext cx="170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>
                <a:solidFill>
                  <a:schemeClr val="bg1"/>
                </a:solidFill>
              </a:rPr>
              <a:t>Hudson Northrup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9A470-B65F-49C7-B206-50EBA4A484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24" r="23897"/>
          <a:stretch/>
        </p:blipFill>
        <p:spPr>
          <a:xfrm>
            <a:off x="128439" y="1053848"/>
            <a:ext cx="6751785" cy="52282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E0E158-E5D5-4584-B3E2-CD9D44CE8D3C}"/>
              </a:ext>
            </a:extLst>
          </p:cNvPr>
          <p:cNvSpPr txBox="1"/>
          <p:nvPr/>
        </p:nvSpPr>
        <p:spPr>
          <a:xfrm>
            <a:off x="2140874" y="1584313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DB341-5D42-46B0-9BC4-3857A1C522EA}"/>
              </a:ext>
            </a:extLst>
          </p:cNvPr>
          <p:cNvSpPr txBox="1"/>
          <p:nvPr/>
        </p:nvSpPr>
        <p:spPr>
          <a:xfrm>
            <a:off x="4374319" y="1525704"/>
            <a:ext cx="4908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1ADC5-8F95-4C5A-9237-F8F1F954757E}"/>
              </a:ext>
            </a:extLst>
          </p:cNvPr>
          <p:cNvSpPr txBox="1"/>
          <p:nvPr/>
        </p:nvSpPr>
        <p:spPr>
          <a:xfrm>
            <a:off x="2166523" y="3650475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824F39-1077-4D3F-BD49-F6BC215161D7}"/>
              </a:ext>
            </a:extLst>
          </p:cNvPr>
          <p:cNvSpPr txBox="1"/>
          <p:nvPr/>
        </p:nvSpPr>
        <p:spPr>
          <a:xfrm>
            <a:off x="4332641" y="3656423"/>
            <a:ext cx="5325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28160-3D7E-9516-B357-174A3DDA1A55}"/>
                  </a:ext>
                </a:extLst>
              </p:cNvPr>
              <p:cNvSpPr txBox="1"/>
              <p:nvPr/>
            </p:nvSpPr>
            <p:spPr>
              <a:xfrm>
                <a:off x="7958618" y="152558"/>
                <a:ext cx="4051159" cy="1877437"/>
              </a:xfrm>
              <a:prstGeom prst="rect">
                <a:avLst/>
              </a:prstGeom>
              <a:solidFill>
                <a:srgbClr val="FFFFFF">
                  <a:alpha val="92157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𝑁𝑒𝑔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𝐵𝑖𝑛𝑜𝑚𝑖𝑎𝑙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: Intercept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: Spatial random effect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: Plot random effect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28160-3D7E-9516-B357-174A3DDA1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618" y="152558"/>
                <a:ext cx="4051159" cy="1877437"/>
              </a:xfrm>
              <a:prstGeom prst="rect">
                <a:avLst/>
              </a:prstGeom>
              <a:blipFill>
                <a:blip r:embed="rId5"/>
                <a:stretch>
                  <a:fillRect l="-1355" b="-4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04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ree, outdoor, forest, wooded&#10;&#10;Description automatically generated">
            <a:extLst>
              <a:ext uri="{FF2B5EF4-FFF2-40B4-BE49-F238E27FC236}">
                <a16:creationId xmlns:a16="http://schemas.microsoft.com/office/drawing/2014/main" id="{441229FE-F602-4997-A3C0-B3826C5DD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869940" y="857250"/>
            <a:ext cx="688338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C0561-EE7B-473A-BBF6-3BABBF2F3C2D}"/>
              </a:ext>
            </a:extLst>
          </p:cNvPr>
          <p:cNvSpPr txBox="1"/>
          <p:nvPr/>
        </p:nvSpPr>
        <p:spPr>
          <a:xfrm>
            <a:off x="3273892" y="6583699"/>
            <a:ext cx="170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>
                <a:solidFill>
                  <a:schemeClr val="bg1"/>
                </a:solidFill>
              </a:rPr>
              <a:t>Stacey Frederick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6DFF79-1D4E-4945-B254-FB91F75E4B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71" r="3675"/>
          <a:stretch/>
        </p:blipFill>
        <p:spPr>
          <a:xfrm>
            <a:off x="4978400" y="-12691"/>
            <a:ext cx="7213600" cy="68833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CC1BD01-1BD5-97F5-6647-CF446183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251791"/>
            <a:ext cx="4412974" cy="1093304"/>
          </a:xfrm>
          <a:solidFill>
            <a:srgbClr val="F8F8F8">
              <a:alpha val="92941"/>
            </a:srgbClr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dirty="0"/>
              <a:t>Study #1: Rx Fire</a:t>
            </a:r>
          </a:p>
        </p:txBody>
      </p:sp>
    </p:spTree>
    <p:extLst>
      <p:ext uri="{BB962C8B-B14F-4D97-AF65-F5344CB8AC3E}">
        <p14:creationId xmlns:p14="http://schemas.microsoft.com/office/powerpoint/2010/main" val="62746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496FEC8C-97F4-005F-396D-3C55FA73C3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2"/>
          <a:stretch/>
        </p:blipFill>
        <p:spPr>
          <a:xfrm>
            <a:off x="5896526" y="1042907"/>
            <a:ext cx="5520233" cy="5785276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70B0142F-1DBC-3326-39ED-6A2C4ECAA2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41"/>
          <a:stretch/>
        </p:blipFill>
        <p:spPr>
          <a:xfrm>
            <a:off x="1451101" y="1042907"/>
            <a:ext cx="4220829" cy="5785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C41386-2A1A-6938-F2F8-36C58426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5095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Study #1 Results</a:t>
            </a:r>
          </a:p>
        </p:txBody>
      </p:sp>
    </p:spTree>
    <p:extLst>
      <p:ext uri="{BB962C8B-B14F-4D97-AF65-F5344CB8AC3E}">
        <p14:creationId xmlns:p14="http://schemas.microsoft.com/office/powerpoint/2010/main" val="361093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642C0E74-5706-EACD-1A64-0AFE20AF4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457" y="1345095"/>
            <a:ext cx="7963086" cy="5512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08A1BB-A7A6-462E-C4D6-36403A5F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5095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Study #2: Drought Mortality</a:t>
            </a:r>
          </a:p>
        </p:txBody>
      </p:sp>
    </p:spTree>
    <p:extLst>
      <p:ext uri="{BB962C8B-B14F-4D97-AF65-F5344CB8AC3E}">
        <p14:creationId xmlns:p14="http://schemas.microsoft.com/office/powerpoint/2010/main" val="395506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A7C2B4-343F-7A3E-C383-D27285710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750474"/>
              </p:ext>
            </p:extLst>
          </p:nvPr>
        </p:nvGraphicFramePr>
        <p:xfrm>
          <a:off x="450574" y="1389952"/>
          <a:ext cx="11304104" cy="1345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48A34D0-7E2D-EDF0-24C5-4876F2AC03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8446" y="2778791"/>
            <a:ext cx="3795107" cy="3795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79BB0A-4930-28ED-48FC-B63C10EDC4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3613" y="2778791"/>
            <a:ext cx="3795107" cy="3795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/>
              <p:nvPr/>
            </p:nvSpPr>
            <p:spPr>
              <a:xfrm>
                <a:off x="606387" y="3591395"/>
                <a:ext cx="2698366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𝐷𝑈𝐹𝐹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𝐷𝐸𝑃𝑇𝐻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NB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87" y="3591395"/>
                <a:ext cx="2698366" cy="7386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5800C93-4448-ECBD-7BC3-9C7C739B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5095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Duff and litter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50178A-6ED4-0DBE-2C34-F454C46A9FEB}"/>
                  </a:ext>
                </a:extLst>
              </p:cNvPr>
              <p:cNvSpPr txBox="1"/>
              <p:nvPr/>
            </p:nvSpPr>
            <p:spPr>
              <a:xfrm>
                <a:off x="518574" y="4855365"/>
                <a:ext cx="2873992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𝐿𝐼𝑇𝑇𝐸𝑅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𝐷𝐸𝑃𝑇𝐻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NB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50178A-6ED4-0DBE-2C34-F454C46A9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74" y="4855365"/>
                <a:ext cx="2873992" cy="7386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70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A7C2B4-343F-7A3E-C383-D27285710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728087"/>
              </p:ext>
            </p:extLst>
          </p:nvPr>
        </p:nvGraphicFramePr>
        <p:xfrm>
          <a:off x="450574" y="1389952"/>
          <a:ext cx="11304104" cy="1866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48A34D0-7E2D-EDF0-24C5-4876F2AC03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5191" y="3601853"/>
            <a:ext cx="2960809" cy="2960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/>
              <p:nvPr/>
            </p:nvSpPr>
            <p:spPr>
              <a:xfrm>
                <a:off x="242674" y="3457443"/>
                <a:ext cx="2619050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𝐹𝑊𝐷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𝐶𝑂𝑈𝑁𝑇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NB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74" y="3457443"/>
                <a:ext cx="2619050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5800C93-4448-ECBD-7BC3-9C7C739B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5095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Fine woody debris and coarse woody debris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2F0BAF-AD00-CB10-AD9F-E9B39CA4F08E}"/>
                  </a:ext>
                </a:extLst>
              </p:cNvPr>
              <p:cNvSpPr txBox="1"/>
              <p:nvPr/>
            </p:nvSpPr>
            <p:spPr>
              <a:xfrm>
                <a:off x="73910" y="4469822"/>
                <a:ext cx="2956579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𝐹𝑊𝐷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𝐷𝐼𝐴𝑀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Inv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Gamma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2F0BAF-AD00-CB10-AD9F-E9B39CA4F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0" y="4469822"/>
                <a:ext cx="295657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0B32E9-FFDD-515D-F05C-DFACF28018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844" y="3601853"/>
            <a:ext cx="2960809" cy="2960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ECF72-2527-8A66-B078-5BB6EF11C99E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4" r="38652" b="14550"/>
          <a:stretch/>
        </p:blipFill>
        <p:spPr>
          <a:xfrm>
            <a:off x="9351979" y="3601853"/>
            <a:ext cx="2534543" cy="2966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87BF8-B752-218C-F4C5-26B85EAD875E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9" t="33768" b="33595"/>
          <a:stretch/>
        </p:blipFill>
        <p:spPr>
          <a:xfrm>
            <a:off x="10711998" y="5258150"/>
            <a:ext cx="1206006" cy="96990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827A92-120C-6C6B-D086-3A5E5B155170}"/>
                  </a:ext>
                </a:extLst>
              </p:cNvPr>
              <p:cNvSpPr txBox="1"/>
              <p:nvPr/>
            </p:nvSpPr>
            <p:spPr>
              <a:xfrm>
                <a:off x="247484" y="5178766"/>
                <a:ext cx="2603213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𝐶𝑊𝐷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𝐶𝑂𝑈𝑁𝑇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827A92-120C-6C6B-D086-3A5E5B15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84" y="5178766"/>
                <a:ext cx="2603213" cy="7386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CCEA7D-6A65-3968-515A-F862ADBB10C7}"/>
                  </a:ext>
                </a:extLst>
              </p:cNvPr>
              <p:cNvSpPr txBox="1"/>
              <p:nvPr/>
            </p:nvSpPr>
            <p:spPr>
              <a:xfrm>
                <a:off x="77116" y="6131775"/>
                <a:ext cx="2953373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𝐶𝑊𝐷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𝐷𝐼𝐴𝑀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Inv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Gamma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CCEA7D-6A65-3968-515A-F862ADBB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6" y="6131775"/>
                <a:ext cx="295337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72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A7C2B4-343F-7A3E-C383-D27285710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026992"/>
              </p:ext>
            </p:extLst>
          </p:nvPr>
        </p:nvGraphicFramePr>
        <p:xfrm>
          <a:off x="450574" y="1389953"/>
          <a:ext cx="11304104" cy="2039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48A34D0-7E2D-EDF0-24C5-4876F2AC03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5191" y="3601853"/>
            <a:ext cx="2960809" cy="2960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/>
              <p:nvPr/>
            </p:nvSpPr>
            <p:spPr>
              <a:xfrm>
                <a:off x="270714" y="4712924"/>
                <a:ext cx="2518170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𝑃𝑅𝐸𝑆𝐸𝑁𝐶𝐸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Bern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logit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4" y="4712924"/>
                <a:ext cx="2518170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5800C93-4448-ECBD-7BC3-9C7C739B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5095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Understory vegetation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70DD144E-E7F4-C3E9-BE02-C8D0DDB9C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908638"/>
              </p:ext>
            </p:extLst>
          </p:nvPr>
        </p:nvGraphicFramePr>
        <p:xfrm>
          <a:off x="6333988" y="3813326"/>
          <a:ext cx="2783508" cy="27493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7836">
                  <a:extLst>
                    <a:ext uri="{9D8B030D-6E8A-4147-A177-3AD203B41FA5}">
                      <a16:colId xmlns:a16="http://schemas.microsoft.com/office/drawing/2014/main" val="651327271"/>
                    </a:ext>
                  </a:extLst>
                </a:gridCol>
                <a:gridCol w="927836">
                  <a:extLst>
                    <a:ext uri="{9D8B030D-6E8A-4147-A177-3AD203B41FA5}">
                      <a16:colId xmlns:a16="http://schemas.microsoft.com/office/drawing/2014/main" val="2409376796"/>
                    </a:ext>
                  </a:extLst>
                </a:gridCol>
                <a:gridCol w="927836">
                  <a:extLst>
                    <a:ext uri="{9D8B030D-6E8A-4147-A177-3AD203B41FA5}">
                      <a16:colId xmlns:a16="http://schemas.microsoft.com/office/drawing/2014/main" val="765104121"/>
                    </a:ext>
                  </a:extLst>
                </a:gridCol>
              </a:tblGrid>
              <a:tr h="687334">
                <a:tc>
                  <a:txBody>
                    <a:bodyPr/>
                    <a:lstStyle/>
                    <a:p>
                      <a:r>
                        <a:rPr lang="en-US" dirty="0"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Cover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49212"/>
                  </a:ext>
                </a:extLst>
              </a:tr>
              <a:tr h="687334">
                <a:tc>
                  <a:txBody>
                    <a:bodyPr/>
                    <a:lstStyle/>
                    <a:p>
                      <a:r>
                        <a:rPr lang="en-US" dirty="0"/>
                        <a:t>CECO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98849"/>
                  </a:ext>
                </a:extLst>
              </a:tr>
              <a:tr h="687334">
                <a:tc>
                  <a:txBody>
                    <a:bodyPr/>
                    <a:lstStyle/>
                    <a:p>
                      <a:r>
                        <a:rPr lang="en-US" dirty="0"/>
                        <a:t>ABCO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323761"/>
                  </a:ext>
                </a:extLst>
              </a:tr>
              <a:tr h="687334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49215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21480C7-9A06-F06E-A663-792E9630A38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0" t="69614" r="27303"/>
          <a:stretch/>
        </p:blipFill>
        <p:spPr>
          <a:xfrm>
            <a:off x="9355484" y="4303490"/>
            <a:ext cx="2565802" cy="1557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366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A7C2B4-343F-7A3E-C383-D27285710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246687"/>
              </p:ext>
            </p:extLst>
          </p:nvPr>
        </p:nvGraphicFramePr>
        <p:xfrm>
          <a:off x="450574" y="1389953"/>
          <a:ext cx="11304104" cy="2039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48A34D0-7E2D-EDF0-24C5-4876F2AC03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5191" y="3601853"/>
            <a:ext cx="2960809" cy="2960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/>
              <p:nvPr/>
            </p:nvSpPr>
            <p:spPr>
              <a:xfrm>
                <a:off x="181464" y="4123975"/>
                <a:ext cx="2684618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𝑁𝑇𝑅𝐸𝐸𝑆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27F841-424F-9646-2D79-ED8F0D43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64" y="4123975"/>
                <a:ext cx="2684618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5800C93-4448-ECBD-7BC3-9C7C739B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9952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dirty="0"/>
              <a:t>Trees and saplings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0A50B4-69D5-2D53-9375-666CA7550C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067" y="3601853"/>
            <a:ext cx="2960809" cy="2960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F74902-6001-5D56-0607-3073E50D1E25}"/>
                  </a:ext>
                </a:extLst>
              </p:cNvPr>
              <p:cNvSpPr txBox="1"/>
              <p:nvPr/>
            </p:nvSpPr>
            <p:spPr>
              <a:xfrm>
                <a:off x="181464" y="5256013"/>
                <a:ext cx="2684618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𝑁𝑆𝐴𝑃𝐿𝐼𝑁𝐺𝑆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F74902-6001-5D56-0607-3073E50D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64" y="5256013"/>
                <a:ext cx="2684618" cy="738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E154D52-DCC0-EF57-3DCC-043705C5764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67" t="4306" r="29499"/>
          <a:stretch/>
        </p:blipFill>
        <p:spPr>
          <a:xfrm>
            <a:off x="9774274" y="2660926"/>
            <a:ext cx="1876709" cy="41597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371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B7FF-8F95-D04A-A8F1-2ADB60B3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Study #2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8AF0-71DE-3613-B286-272308E51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Describe and implement data collection / analysis / data products pipeline</a:t>
            </a:r>
          </a:p>
          <a:p>
            <a:r>
              <a:rPr lang="en-US" dirty="0"/>
              <a:t>Evaluate performance of 9 GLMMs (in-bag prediction, out-of-bag prediction, plot-level simulations)</a:t>
            </a:r>
          </a:p>
          <a:p>
            <a:r>
              <a:rPr lang="en-US" dirty="0"/>
              <a:t>Few differences across drought mortality levels</a:t>
            </a:r>
          </a:p>
          <a:p>
            <a:r>
              <a:rPr lang="en-US" dirty="0"/>
              <a:t>More data needed to describe spatial pattern of rare events (CWD, trees, saplings)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33B63-6EC6-0725-63EE-09C71F83B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2442" y="0"/>
            <a:ext cx="5627157" cy="6492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D78189-9620-833E-FB1E-87F1DE1FB1AD}"/>
              </a:ext>
            </a:extLst>
          </p:cNvPr>
          <p:cNvSpPr txBox="1"/>
          <p:nvPr/>
        </p:nvSpPr>
        <p:spPr>
          <a:xfrm>
            <a:off x="6412442" y="6488668"/>
            <a:ext cx="5779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Litter Posterior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313831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8EDC-6FEC-F1FE-077D-E695F242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48280" cy="1325563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332D-0F10-F937-D548-0C49A00F8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825625"/>
            <a:ext cx="4223174" cy="4667250"/>
          </a:xfrm>
        </p:spPr>
        <p:txBody>
          <a:bodyPr>
            <a:normAutofit/>
          </a:bodyPr>
          <a:lstStyle/>
          <a:p>
            <a:r>
              <a:rPr lang="en-US" dirty="0"/>
              <a:t>Large-scale SEKI sampling by USGS / NPS</a:t>
            </a:r>
          </a:p>
          <a:p>
            <a:r>
              <a:rPr lang="en-US" dirty="0"/>
              <a:t>Feed simulations into a CFD fire model to evaluate effects of varying spatial parameters on fire behavior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833E3A-9E1E-AB00-CB33-0512791B50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7" t="1591" r="46504" b="64763"/>
          <a:stretch/>
        </p:blipFill>
        <p:spPr>
          <a:xfrm>
            <a:off x="4686380" y="365125"/>
            <a:ext cx="2327316" cy="2153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E3B22B-915B-3800-2067-E445C6CD9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88" t="1591" r="2901" b="68414"/>
          <a:stretch/>
        </p:blipFill>
        <p:spPr>
          <a:xfrm>
            <a:off x="4853682" y="2519046"/>
            <a:ext cx="1992712" cy="19202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4D6AF2-6836-A0EB-3BE5-DF454A3646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250" t="65233" r="2901" b="4935"/>
          <a:stretch/>
        </p:blipFill>
        <p:spPr>
          <a:xfrm>
            <a:off x="4853682" y="4533589"/>
            <a:ext cx="2012356" cy="19097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EB8B89-65AE-04FC-06E3-BA204C52EE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523"/>
          <a:stretch/>
        </p:blipFill>
        <p:spPr>
          <a:xfrm>
            <a:off x="7088884" y="365125"/>
            <a:ext cx="4991797" cy="18926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7FFC08-1DD5-DE6F-488A-0FF052A96D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459" b="122"/>
          <a:stretch/>
        </p:blipFill>
        <p:spPr>
          <a:xfrm>
            <a:off x="7088883" y="2727326"/>
            <a:ext cx="4991797" cy="15036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64E072-70D3-DA47-C4AE-1016DAA143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3822"/>
          <a:stretch/>
        </p:blipFill>
        <p:spPr>
          <a:xfrm>
            <a:off x="7085508" y="4700583"/>
            <a:ext cx="5106492" cy="1819529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CFC994F-09CE-1768-11CC-EB1C8D82E2A8}"/>
              </a:ext>
            </a:extLst>
          </p:cNvPr>
          <p:cNvSpPr/>
          <p:nvPr/>
        </p:nvSpPr>
        <p:spPr>
          <a:xfrm>
            <a:off x="6479113" y="1204511"/>
            <a:ext cx="606395" cy="33963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F7F283B-3831-F7FB-7855-904D08C46513}"/>
              </a:ext>
            </a:extLst>
          </p:cNvPr>
          <p:cNvSpPr/>
          <p:nvPr/>
        </p:nvSpPr>
        <p:spPr>
          <a:xfrm>
            <a:off x="6479112" y="3356500"/>
            <a:ext cx="606395" cy="33963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68C8C0D-DB72-2899-E56D-23F746716F8C}"/>
              </a:ext>
            </a:extLst>
          </p:cNvPr>
          <p:cNvSpPr/>
          <p:nvPr/>
        </p:nvSpPr>
        <p:spPr>
          <a:xfrm>
            <a:off x="6479112" y="5338671"/>
            <a:ext cx="606395" cy="33963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99687E-B298-87B0-07CC-D50A1EE51F09}"/>
              </a:ext>
            </a:extLst>
          </p:cNvPr>
          <p:cNvSpPr txBox="1"/>
          <p:nvPr/>
        </p:nvSpPr>
        <p:spPr>
          <a:xfrm>
            <a:off x="10135155" y="6488668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Atchley et al. (2021)</a:t>
            </a:r>
          </a:p>
        </p:txBody>
      </p:sp>
    </p:spTree>
    <p:extLst>
      <p:ext uri="{BB962C8B-B14F-4D97-AF65-F5344CB8AC3E}">
        <p14:creationId xmlns:p14="http://schemas.microsoft.com/office/powerpoint/2010/main" val="292648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rain, smoke, track, mountain&#10;&#10;Description automatically generated">
            <a:extLst>
              <a:ext uri="{FF2B5EF4-FFF2-40B4-BE49-F238E27FC236}">
                <a16:creationId xmlns:a16="http://schemas.microsoft.com/office/drawing/2014/main" id="{48D6AD5B-E96D-7960-00AB-40EEF1E370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CCB7E-1475-EEF3-08C8-2C663CB3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340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1C9A-C75B-C5D6-C59A-B56B7B10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900" dirty="0"/>
              <a:t>Data collection: Hudson Northrup, Ian Moore, Angie </a:t>
            </a:r>
            <a:r>
              <a:rPr lang="en-US" sz="1900" dirty="0" err="1"/>
              <a:t>Notari</a:t>
            </a:r>
            <a:r>
              <a:rPr lang="en-US" sz="1900" dirty="0"/>
              <a:t>, Gavin Williams</a:t>
            </a:r>
          </a:p>
          <a:p>
            <a:r>
              <a:rPr lang="en-US" sz="1900" dirty="0"/>
              <a:t>Statistical advice &amp; coding assistance: Lisa Rosenthal</a:t>
            </a:r>
          </a:p>
          <a:p>
            <a:r>
              <a:rPr lang="en-US" sz="1900" dirty="0"/>
              <a:t>Dissertation Committee: John Battles, Scott Stephens, Perry de </a:t>
            </a:r>
            <a:r>
              <a:rPr lang="en-US" sz="1900" dirty="0" err="1"/>
              <a:t>Valpine</a:t>
            </a:r>
            <a:endParaRPr lang="en-US" sz="1900" dirty="0"/>
          </a:p>
          <a:p>
            <a:r>
              <a:rPr lang="en-US" sz="1900" dirty="0" err="1"/>
              <a:t>Pyregence</a:t>
            </a:r>
            <a:r>
              <a:rPr lang="en-US" sz="1900" dirty="0"/>
              <a:t> WG2 &amp; TAC</a:t>
            </a:r>
          </a:p>
          <a:p>
            <a:r>
              <a:rPr lang="en-US" sz="1900" dirty="0"/>
              <a:t>Rx Fire: Rob York, Ariel </a:t>
            </a:r>
            <a:r>
              <a:rPr lang="en-US" sz="1900" dirty="0" err="1"/>
              <a:t>Roughton</a:t>
            </a:r>
            <a:r>
              <a:rPr lang="en-US" sz="1900" dirty="0"/>
              <a:t>, BFRS Staff &amp; Volunteers</a:t>
            </a:r>
          </a:p>
        </p:txBody>
      </p:sp>
    </p:spTree>
    <p:extLst>
      <p:ext uri="{BB962C8B-B14F-4D97-AF65-F5344CB8AC3E}">
        <p14:creationId xmlns:p14="http://schemas.microsoft.com/office/powerpoint/2010/main" val="136470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3579</TotalTime>
  <Words>1460</Words>
  <Application>Microsoft Office PowerPoint</Application>
  <PresentationFormat>Widescreen</PresentationFormat>
  <Paragraphs>175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Fuel Measurement Methodologies</vt:lpstr>
      <vt:lpstr>PowerPoint Presentation</vt:lpstr>
      <vt:lpstr>PowerPoint Presentation</vt:lpstr>
      <vt:lpstr>PowerPoint Presentation</vt:lpstr>
      <vt:lpstr>Study #1: Rx Fire</vt:lpstr>
      <vt:lpstr>Study #1 Results</vt:lpstr>
      <vt:lpstr>Study #2: Drought Mortality</vt:lpstr>
      <vt:lpstr>Duff and litter</vt:lpstr>
      <vt:lpstr>Fine woody debris and coarse woody debris</vt:lpstr>
      <vt:lpstr>Understory vegetation</vt:lpstr>
      <vt:lpstr>Trees and saplings</vt:lpstr>
      <vt:lpstr>Study #2 Results</vt:lpstr>
      <vt:lpstr>Next Steps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Measurement Methodologies</dc:title>
  <dc:creator>Daniel Foster</dc:creator>
  <cp:lastModifiedBy>Daniel Foster</cp:lastModifiedBy>
  <cp:revision>14</cp:revision>
  <dcterms:created xsi:type="dcterms:W3CDTF">2022-10-10T17:37:47Z</dcterms:created>
  <dcterms:modified xsi:type="dcterms:W3CDTF">2022-10-27T19:43:26Z</dcterms:modified>
</cp:coreProperties>
</file>