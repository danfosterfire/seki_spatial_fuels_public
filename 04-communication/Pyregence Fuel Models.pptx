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3F94-4D05-8390-C2F1-4C58AB3FA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E0262-8667-5A39-369B-284792A1C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69E52-3933-5A42-E2A4-C4AF36C7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261B4-7651-FADB-F4FA-D3570F88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B8BF-9E8C-5E94-6851-DE2E608B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6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8DFA-2402-1B95-2E3F-610F012D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A9CD5-518B-AB3F-3A64-7735ADD55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D0952-BF65-4451-3B9E-31F522CB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CEBDD-EB60-8D90-5A87-C87E534F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D411C-BC6D-4726-6168-A1F8A24D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1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0682-FE7F-C080-55E3-DD4E71AB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A2DF2-273B-7547-3AC0-9ECE91D53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3DED5-6107-7903-353F-041F210B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1D53-8FEE-911F-E374-4A97D779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5CCB-402F-FA18-219D-D599E2FA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2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B15F-AC38-677B-E995-DC2A201F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FA90-A691-AF03-D324-D55C3BDB0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324AA-5FF8-8EC3-9685-BA0249AFA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1F852-2B4C-5307-576B-D3F46E3F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EFC3-69BA-54A7-3C4E-B3D3E419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A5DD2-B7BD-DFCC-B483-F5A50449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5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185F-91C1-5826-0935-1C6B15ED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954C5-C4B3-616C-6179-0B4B5568E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5187C-ACD6-6AC1-F533-C22998CF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A8713-0923-8031-5AFF-C0F28073D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32020-540C-6218-CFCA-A8C8E05F5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F45EB-E663-2F52-E183-41440EB8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6420E-7621-2FC0-CCF8-6E375E7E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89164-FFD0-A4E5-2422-C6F28957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EC6D-714F-B78B-C70E-F5E66711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5AABD-C888-020E-58BE-00D21241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BFC1F-027B-2835-3315-EB1B4CD1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25C70-1C31-FEA1-90E4-768166D2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8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60073-3356-E86C-ADCC-A555BECA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AEA29-2FDC-8342-E360-65CA0140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0BA99-2696-4741-992C-13CB8C32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4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78CA-FAAD-08C4-0606-8018960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F6AF-8E74-76AF-BEE9-EDFB46C1C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DE840-C5C1-338A-7A7E-EF2F19B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87F05-E444-D206-64B8-5B0BA663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AE0D4-0C70-2566-DC32-6F3DE601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4C81C-642F-977E-D59E-3FC725A1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9997-E1CE-350B-4163-5AD7DCED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8F1D3-7F6A-E4B3-C40D-42175EEAE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A35A2-A446-EF72-DD0D-482A7B4BE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ABF7B-0CD6-04E1-E6F9-E0C229AF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CDD3-D444-0C59-EA1A-02B23EA3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1B15C-4F5B-A77F-7BC9-4E8EE784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5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F143-A308-52AF-A034-AC103B31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5B0D5-CB7C-4D5F-94F2-ECB6E18DC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8905B-426D-FCAC-4890-58CDE1CC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32A7E-1FAA-9FD7-2A81-DD4E2C30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D34A-A52C-7E9A-6229-3DD357A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8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61C2C-D2B0-6611-335C-C0FA3807F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2EDBA-E4F4-E5FE-B4A4-E8AED7920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8E57-6EC8-7D97-1F3C-627E8691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FE35-14A9-16EF-31E5-706E2247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86BDC-C4E5-419C-53FF-1A1606A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8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CA8AE-64CE-CDC5-528E-2822AE63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1E780-0C98-B815-5782-CC97E816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FA6E-C181-0563-7498-4F0F50E6D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89E00-949B-4EA0-A8D9-B9402542AACD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2A320-8E9D-53BD-6CC5-266BE7FA7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755A0-EC47-4DFC-2143-57B0CE7A1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2D497-B8A6-433B-90A6-7627F91D9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64D5-7378-782B-CA0F-EA56F28FB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Pyregence</a:t>
            </a:r>
            <a:r>
              <a:rPr lang="en-US" dirty="0"/>
              <a:t> Fuel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DB1EB-D345-2475-1C57-73BB44B61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2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D101-75C5-739D-C763-9FD049DD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B4F1C-5C1A-8394-F055-955F45BA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Litter+duff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Sample Depth</a:t>
            </a:r>
          </a:p>
          <a:p>
            <a:r>
              <a:rPr lang="en-US" dirty="0"/>
              <a:t>FWD (1-100h)</a:t>
            </a:r>
          </a:p>
          <a:p>
            <a:pPr lvl="1"/>
            <a:r>
              <a:rPr lang="en-US" dirty="0"/>
              <a:t>Sample tally</a:t>
            </a:r>
          </a:p>
          <a:p>
            <a:pPr lvl="1"/>
            <a:r>
              <a:rPr lang="en-US" dirty="0"/>
              <a:t>Particle diameter (0-7.62)</a:t>
            </a:r>
          </a:p>
          <a:p>
            <a:r>
              <a:rPr lang="en-US" dirty="0"/>
              <a:t>CWD</a:t>
            </a:r>
          </a:p>
          <a:p>
            <a:pPr lvl="1"/>
            <a:r>
              <a:rPr lang="en-US" dirty="0"/>
              <a:t>Sample tally</a:t>
            </a:r>
          </a:p>
          <a:p>
            <a:pPr lvl="1"/>
            <a:r>
              <a:rPr lang="en-US" dirty="0"/>
              <a:t>Particle diameter (&gt;7.62)</a:t>
            </a:r>
          </a:p>
          <a:p>
            <a:r>
              <a:rPr lang="en-US" dirty="0"/>
              <a:t>Understory veg</a:t>
            </a:r>
          </a:p>
          <a:p>
            <a:pPr lvl="1"/>
            <a:r>
              <a:rPr lang="en-US" dirty="0"/>
              <a:t>Veg presence (T/F)</a:t>
            </a:r>
          </a:p>
          <a:p>
            <a:pPr lvl="1"/>
            <a:r>
              <a:rPr lang="en-US" dirty="0"/>
              <a:t>Veg height (# occupied strata)</a:t>
            </a:r>
          </a:p>
          <a:p>
            <a:r>
              <a:rPr lang="en-US" dirty="0"/>
              <a:t>Saplings</a:t>
            </a:r>
          </a:p>
          <a:p>
            <a:pPr lvl="1"/>
            <a:r>
              <a:rPr lang="en-US" dirty="0"/>
              <a:t>Plot tally</a:t>
            </a:r>
          </a:p>
          <a:p>
            <a:r>
              <a:rPr lang="en-US" dirty="0"/>
              <a:t>Trees</a:t>
            </a:r>
          </a:p>
          <a:p>
            <a:pPr lvl="1"/>
            <a:r>
              <a:rPr lang="en-US" dirty="0"/>
              <a:t>Plot tally</a:t>
            </a:r>
          </a:p>
        </p:txBody>
      </p:sp>
    </p:spTree>
    <p:extLst>
      <p:ext uri="{BB962C8B-B14F-4D97-AF65-F5344CB8AC3E}">
        <p14:creationId xmlns:p14="http://schemas.microsoft.com/office/powerpoint/2010/main" val="336248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FC84-F7C0-1E66-6098-528B029D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Litter + Duff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BD9F7-12A1-F64C-1952-68131216C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293B3-4E41-3C18-C54C-BACBA484BE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Neg. Binomial response</a:t>
            </a:r>
          </a:p>
          <a:p>
            <a:pPr lvl="1"/>
            <a:r>
              <a:rPr lang="en-US" dirty="0"/>
              <a:t>Depth at sample point</a:t>
            </a:r>
          </a:p>
          <a:p>
            <a:r>
              <a:rPr lang="en-US" dirty="0"/>
              <a:t>Fixed effects</a:t>
            </a:r>
          </a:p>
          <a:p>
            <a:pPr lvl="1"/>
            <a:r>
              <a:rPr lang="en-US" dirty="0"/>
              <a:t>Drought mortality level</a:t>
            </a:r>
          </a:p>
          <a:p>
            <a:r>
              <a:rPr lang="en-US" dirty="0"/>
              <a:t>Random effects</a:t>
            </a:r>
          </a:p>
          <a:p>
            <a:pPr lvl="1"/>
            <a:r>
              <a:rPr lang="en-US" dirty="0"/>
              <a:t>Gaussian process (fine-scale, spatial)</a:t>
            </a:r>
          </a:p>
          <a:p>
            <a:pPr lvl="1"/>
            <a:r>
              <a:rPr lang="en-US" dirty="0"/>
              <a:t>Plot (coarse, aspatial)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C7824-88EF-E1F7-9C3C-6FD26EEE8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Fuelbed</a:t>
            </a:r>
            <a:r>
              <a:rPr lang="en-US" dirty="0"/>
              <a:t> simulation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30420-4B1E-FD31-623A-78AF64663D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Simulate responses (</a:t>
            </a:r>
            <a:r>
              <a:rPr lang="en-US" dirty="0" err="1"/>
              <a:t>litter+duff</a:t>
            </a:r>
            <a:r>
              <a:rPr lang="en-US" dirty="0"/>
              <a:t> depths) on 0.5m resolution grid in 1 or 2 dimensions</a:t>
            </a:r>
          </a:p>
          <a:p>
            <a:r>
              <a:rPr lang="en-US" dirty="0"/>
              <a:t>Use van </a:t>
            </a:r>
            <a:r>
              <a:rPr lang="en-US" dirty="0" err="1"/>
              <a:t>Wagtendonk</a:t>
            </a:r>
            <a:r>
              <a:rPr lang="en-US" dirty="0"/>
              <a:t> allometric </a:t>
            </a:r>
            <a:r>
              <a:rPr lang="en-US" dirty="0" err="1"/>
              <a:t>eqns</a:t>
            </a:r>
            <a:r>
              <a:rPr lang="en-US" dirty="0"/>
              <a:t> to map from depth (cm) to biomass (Mg/ha)</a:t>
            </a:r>
          </a:p>
        </p:txBody>
      </p:sp>
    </p:spTree>
    <p:extLst>
      <p:ext uri="{BB962C8B-B14F-4D97-AF65-F5344CB8AC3E}">
        <p14:creationId xmlns:p14="http://schemas.microsoft.com/office/powerpoint/2010/main" val="362472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2AE8-33B5-F8DD-75E7-B2487BE7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8" y="365125"/>
            <a:ext cx="4191000" cy="1325563"/>
          </a:xfrm>
        </p:spPr>
        <p:txBody>
          <a:bodyPr/>
          <a:lstStyle/>
          <a:p>
            <a:r>
              <a:rPr lang="en-US" dirty="0" err="1"/>
              <a:t>Litter+duff</a:t>
            </a:r>
            <a:r>
              <a:rPr lang="en-US" dirty="0"/>
              <a:t> reality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8DB7-58D2-F6B5-8B6D-8039C44E4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12416" cy="4351338"/>
          </a:xfrm>
        </p:spPr>
        <p:txBody>
          <a:bodyPr/>
          <a:lstStyle/>
          <a:p>
            <a:r>
              <a:rPr lang="en-US" dirty="0"/>
              <a:t>Rounding depth to nearest integer to use NB response</a:t>
            </a:r>
          </a:p>
          <a:p>
            <a:r>
              <a:rPr lang="en-US" dirty="0" err="1"/>
              <a:t>Litter+duff</a:t>
            </a:r>
            <a:r>
              <a:rPr lang="en-US" dirty="0"/>
              <a:t> depth combined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1EB267-1080-7FEC-7C51-DE1D71277B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6959C8-6817-FD31-9738-0CD8D6757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2" y="573065"/>
            <a:ext cx="6993835" cy="6102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C4256C-B505-1063-B511-8A06C305A4A7}"/>
              </a:ext>
            </a:extLst>
          </p:cNvPr>
          <p:cNvSpPr txBox="1"/>
          <p:nvPr/>
        </p:nvSpPr>
        <p:spPr>
          <a:xfrm>
            <a:off x="5625548" y="365125"/>
            <a:ext cx="1698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Subsample level</a:t>
            </a:r>
          </a:p>
        </p:txBody>
      </p:sp>
    </p:spTree>
    <p:extLst>
      <p:ext uri="{BB962C8B-B14F-4D97-AF65-F5344CB8AC3E}">
        <p14:creationId xmlns:p14="http://schemas.microsoft.com/office/powerpoint/2010/main" val="112053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0E1E-40C0-8585-C01F-E53F919A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FWD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57482-39B4-FA11-ABFE-DA3C238C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17C90-EAE5-A189-A1B2-F552EBE53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Tally at sample</a:t>
            </a:r>
          </a:p>
          <a:p>
            <a:pPr lvl="1"/>
            <a:r>
              <a:rPr lang="en-US" dirty="0"/>
              <a:t>Neg. Binomial response</a:t>
            </a:r>
          </a:p>
          <a:p>
            <a:pPr lvl="2"/>
            <a:r>
              <a:rPr lang="en-US" dirty="0"/>
              <a:t>Tally on 1m </a:t>
            </a:r>
            <a:r>
              <a:rPr lang="en-US" dirty="0" err="1"/>
              <a:t>subtransect</a:t>
            </a:r>
            <a:endParaRPr lang="en-US" dirty="0"/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Drought mortality level</a:t>
            </a:r>
          </a:p>
          <a:p>
            <a:pPr lvl="1"/>
            <a:r>
              <a:rPr lang="en-US" dirty="0"/>
              <a:t>Random effects</a:t>
            </a:r>
          </a:p>
          <a:p>
            <a:pPr lvl="2"/>
            <a:r>
              <a:rPr lang="en-US" dirty="0"/>
              <a:t>Gaussian process (fine-scale, spatial)</a:t>
            </a:r>
          </a:p>
          <a:p>
            <a:pPr lvl="2"/>
            <a:r>
              <a:rPr lang="en-US" dirty="0"/>
              <a:t>Plot (coarse, aspatial)</a:t>
            </a:r>
          </a:p>
          <a:p>
            <a:r>
              <a:rPr lang="en-US" dirty="0"/>
              <a:t>Particle size</a:t>
            </a:r>
          </a:p>
          <a:p>
            <a:pPr lvl="1"/>
            <a:r>
              <a:rPr lang="en-US" dirty="0"/>
              <a:t>Inv-Gamma response</a:t>
            </a:r>
          </a:p>
          <a:p>
            <a:pPr lvl="1"/>
            <a:r>
              <a:rPr lang="en-US" dirty="0"/>
              <a:t>Truncated to [0, 7.62]</a:t>
            </a:r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Drought mortality level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BD056-9281-7111-7514-02C648526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Fuelbed</a:t>
            </a:r>
            <a:r>
              <a:rPr lang="en-US" dirty="0"/>
              <a:t> simulation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0D8F-B42E-D6FC-4534-3D7DF1FC5A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Simulate tally of 1-100h on 1m resolution grid in 1 or 2 dimensions</a:t>
            </a:r>
          </a:p>
          <a:p>
            <a:r>
              <a:rPr lang="en-US" dirty="0"/>
              <a:t>For each simulated particle, simulate a diameter, then bin them into 1h, 10h, 100h size classes</a:t>
            </a:r>
          </a:p>
          <a:p>
            <a:pPr lvl="1"/>
            <a:r>
              <a:rPr lang="en-US" dirty="0"/>
              <a:t>Arbitrary size bins possible</a:t>
            </a:r>
          </a:p>
          <a:p>
            <a:r>
              <a:rPr lang="en-US" dirty="0"/>
              <a:t>Use van </a:t>
            </a:r>
            <a:r>
              <a:rPr lang="en-US" dirty="0" err="1"/>
              <a:t>Wagtendonk</a:t>
            </a:r>
            <a:r>
              <a:rPr lang="en-US" dirty="0"/>
              <a:t> allometric </a:t>
            </a:r>
            <a:r>
              <a:rPr lang="en-US" dirty="0" err="1"/>
              <a:t>eqns</a:t>
            </a:r>
            <a:r>
              <a:rPr lang="en-US" dirty="0"/>
              <a:t> to map from tally in size class (#) to biomass (Mg/ha)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55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F61D-1635-6A9E-F8F6-4A760CCC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43"/>
            <a:ext cx="10515600" cy="569154"/>
          </a:xfrm>
        </p:spPr>
        <p:txBody>
          <a:bodyPr>
            <a:normAutofit fontScale="90000"/>
          </a:bodyPr>
          <a:lstStyle/>
          <a:p>
            <a:r>
              <a:rPr lang="en-US" dirty="0"/>
              <a:t>FWD reality check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D8AC503-8D4E-49F6-9568-490C2A639D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14904"/>
          <a:stretch/>
        </p:blipFill>
        <p:spPr>
          <a:xfrm>
            <a:off x="-1" y="1314001"/>
            <a:ext cx="5406887" cy="5544000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22EC14-F645-2CE5-CE00-D886C27A05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96506" y="1364955"/>
            <a:ext cx="6295494" cy="5493045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136C9E-E25F-7978-9B41-81E61BBF6E55}"/>
              </a:ext>
            </a:extLst>
          </p:cNvPr>
          <p:cNvSpPr txBox="1"/>
          <p:nvPr/>
        </p:nvSpPr>
        <p:spPr>
          <a:xfrm>
            <a:off x="351182" y="865560"/>
            <a:ext cx="242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Plot-level means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8E9101-7E93-731E-C968-7B25B5E6CE50}"/>
              </a:ext>
            </a:extLst>
          </p:cNvPr>
          <p:cNvSpPr txBox="1"/>
          <p:nvPr/>
        </p:nvSpPr>
        <p:spPr>
          <a:xfrm>
            <a:off x="6387548" y="840083"/>
            <a:ext cx="242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Subsample level</a:t>
            </a:r>
          </a:p>
        </p:txBody>
      </p:sp>
    </p:spTree>
    <p:extLst>
      <p:ext uri="{BB962C8B-B14F-4D97-AF65-F5344CB8AC3E}">
        <p14:creationId xmlns:p14="http://schemas.microsoft.com/office/powerpoint/2010/main" val="38896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0E1E-40C0-8585-C01F-E53F919A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CWD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57482-39B4-FA11-ABFE-DA3C238C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17C90-EAE5-A189-A1B2-F552EBE53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Tally at sample</a:t>
            </a:r>
          </a:p>
          <a:p>
            <a:pPr lvl="1"/>
            <a:r>
              <a:rPr lang="en-US" dirty="0"/>
              <a:t>Poisson response</a:t>
            </a:r>
          </a:p>
          <a:p>
            <a:pPr lvl="2"/>
            <a:r>
              <a:rPr lang="en-US" dirty="0"/>
              <a:t>Tally on 1m </a:t>
            </a:r>
            <a:r>
              <a:rPr lang="en-US" dirty="0" err="1"/>
              <a:t>subtransect</a:t>
            </a:r>
            <a:endParaRPr lang="en-US" dirty="0"/>
          </a:p>
          <a:p>
            <a:pPr lvl="2"/>
            <a:r>
              <a:rPr lang="en-US" dirty="0"/>
              <a:t>NB failed to fit</a:t>
            </a:r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Drought mortality level</a:t>
            </a:r>
          </a:p>
          <a:p>
            <a:pPr lvl="1"/>
            <a:r>
              <a:rPr lang="en-US" dirty="0"/>
              <a:t>Random effects</a:t>
            </a:r>
          </a:p>
          <a:p>
            <a:pPr lvl="2"/>
            <a:r>
              <a:rPr lang="en-US" dirty="0"/>
              <a:t>Gaussian process (fine-scale, spatial)</a:t>
            </a:r>
          </a:p>
          <a:p>
            <a:pPr lvl="2"/>
            <a:r>
              <a:rPr lang="en-US" dirty="0"/>
              <a:t>Transect (orientation bias)</a:t>
            </a:r>
          </a:p>
          <a:p>
            <a:pPr lvl="2"/>
            <a:r>
              <a:rPr lang="en-US" dirty="0"/>
              <a:t>Plot (coarse, aspatial)</a:t>
            </a:r>
          </a:p>
          <a:p>
            <a:r>
              <a:rPr lang="en-US" dirty="0"/>
              <a:t>Particle size</a:t>
            </a:r>
          </a:p>
          <a:p>
            <a:pPr lvl="1"/>
            <a:r>
              <a:rPr lang="en-US" dirty="0"/>
              <a:t>Inv-Gamma response</a:t>
            </a:r>
          </a:p>
          <a:p>
            <a:pPr lvl="1"/>
            <a:r>
              <a:rPr lang="en-US" dirty="0"/>
              <a:t>Truncated to [&gt;7.62]</a:t>
            </a:r>
          </a:p>
          <a:p>
            <a:pPr lvl="1"/>
            <a:r>
              <a:rPr lang="en-US" dirty="0"/>
              <a:t>Parameters vary by drought mortality level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BD056-9281-7111-7514-02C648526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Fuelbed</a:t>
            </a:r>
            <a:r>
              <a:rPr lang="en-US" dirty="0"/>
              <a:t> simulation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0D8F-B42E-D6FC-4534-3D7DF1FC5A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Simulate tally of CWD on 1m resolution grid in 1 or 2 dimensions</a:t>
            </a:r>
          </a:p>
          <a:p>
            <a:r>
              <a:rPr lang="en-US" dirty="0"/>
              <a:t>For each simulated particle, simulate a diameter</a:t>
            </a:r>
          </a:p>
          <a:p>
            <a:r>
              <a:rPr lang="en-US" dirty="0"/>
              <a:t>Use van </a:t>
            </a:r>
            <a:r>
              <a:rPr lang="en-US" dirty="0" err="1"/>
              <a:t>Wagtendonk</a:t>
            </a:r>
            <a:r>
              <a:rPr lang="en-US" dirty="0"/>
              <a:t> allometric </a:t>
            </a:r>
            <a:r>
              <a:rPr lang="en-US" dirty="0" err="1"/>
              <a:t>eqns</a:t>
            </a:r>
            <a:r>
              <a:rPr lang="en-US" dirty="0"/>
              <a:t> to map from sum of squared diameters (cm2) to biomass (Mg/ha)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29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09F0-D3E7-9124-4751-5DB55261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66158" cy="1325563"/>
          </a:xfrm>
        </p:spPr>
        <p:txBody>
          <a:bodyPr/>
          <a:lstStyle/>
          <a:p>
            <a:r>
              <a:rPr lang="en-US" dirty="0"/>
              <a:t>CWD reality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8BF9-3EE8-685D-32DA-81F71952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66158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11533B-ABF1-7918-4611-13471E9A40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04358" y="681037"/>
            <a:ext cx="6298796" cy="5495926"/>
          </a:xfrm>
        </p:spPr>
      </p:pic>
    </p:spTree>
    <p:extLst>
      <p:ext uri="{BB962C8B-B14F-4D97-AF65-F5344CB8AC3E}">
        <p14:creationId xmlns:p14="http://schemas.microsoft.com/office/powerpoint/2010/main" val="175019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0E1E-40C0-8585-C01F-E53F919A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Understory veg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57482-39B4-FA11-ABFE-DA3C238C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17C90-EAE5-A189-A1B2-F552EBE53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Presence/Absence of vegetation at sample</a:t>
            </a:r>
          </a:p>
          <a:p>
            <a:pPr lvl="1"/>
            <a:r>
              <a:rPr lang="en-US" dirty="0"/>
              <a:t>Bernoulli response</a:t>
            </a:r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Drought mortality level</a:t>
            </a:r>
          </a:p>
          <a:p>
            <a:pPr lvl="1"/>
            <a:r>
              <a:rPr lang="en-US" dirty="0"/>
              <a:t>Random effects</a:t>
            </a:r>
          </a:p>
          <a:p>
            <a:pPr lvl="2"/>
            <a:r>
              <a:rPr lang="en-US" dirty="0"/>
              <a:t>Gaussian process (fine-scale, spatial)</a:t>
            </a:r>
          </a:p>
          <a:p>
            <a:pPr lvl="2"/>
            <a:r>
              <a:rPr lang="en-US" dirty="0"/>
              <a:t>Plot (coarse, aspatial)</a:t>
            </a:r>
          </a:p>
          <a:p>
            <a:r>
              <a:rPr lang="en-US" dirty="0"/>
              <a:t>Count of occupied strata at sample</a:t>
            </a:r>
          </a:p>
          <a:p>
            <a:pPr lvl="1"/>
            <a:r>
              <a:rPr lang="en-US" dirty="0"/>
              <a:t>Binomial response</a:t>
            </a:r>
          </a:p>
          <a:p>
            <a:pPr lvl="2"/>
            <a:r>
              <a:rPr lang="en-US" dirty="0"/>
              <a:t>N occupied 0.25m strata, counting up from ground level to a max of 3.5m</a:t>
            </a:r>
          </a:p>
          <a:p>
            <a:pPr lvl="1"/>
            <a:r>
              <a:rPr lang="en-US" dirty="0"/>
              <a:t>Fixed effects</a:t>
            </a:r>
          </a:p>
          <a:p>
            <a:pPr lvl="2"/>
            <a:r>
              <a:rPr lang="en-US" dirty="0"/>
              <a:t>Drought mortality level</a:t>
            </a:r>
          </a:p>
          <a:p>
            <a:pPr lvl="1"/>
            <a:r>
              <a:rPr lang="en-US" dirty="0"/>
              <a:t>Random effects</a:t>
            </a:r>
          </a:p>
          <a:p>
            <a:pPr lvl="2"/>
            <a:r>
              <a:rPr lang="en-US" dirty="0"/>
              <a:t>Gaussian process (fine-scale, spatial)</a:t>
            </a:r>
          </a:p>
          <a:p>
            <a:pPr lvl="2"/>
            <a:r>
              <a:rPr lang="en-US" dirty="0"/>
              <a:t>Plot (coarse, aspatial)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BD056-9281-7111-7514-02C648526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Fuelbed</a:t>
            </a:r>
            <a:r>
              <a:rPr lang="en-US" dirty="0"/>
              <a:t> simulation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0D8F-B42E-D6FC-4534-3D7DF1FC5A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Simulate vegetation presence on 0.5m resolution grid in 1 or 2 dimensions</a:t>
            </a:r>
          </a:p>
          <a:p>
            <a:r>
              <a:rPr lang="en-US" dirty="0"/>
              <a:t>Simulate vegetation height on identical grid, filter to only points where veg is present</a:t>
            </a:r>
          </a:p>
          <a:p>
            <a:pPr lvl="1"/>
            <a:r>
              <a:rPr lang="en-US" dirty="0"/>
              <a:t>0.5m =~ mean crown diameter in McGinnis sample</a:t>
            </a:r>
          </a:p>
          <a:p>
            <a:r>
              <a:rPr lang="en-US" strike="sngStrike" dirty="0">
                <a:highlight>
                  <a:srgbClr val="FFFF00"/>
                </a:highlight>
              </a:rPr>
              <a:t>Assume each pixel with height &gt;0m is an individual plant with crown volume = height*pi*(0.25^2)</a:t>
            </a:r>
          </a:p>
          <a:p>
            <a:r>
              <a:rPr lang="en-US" strike="sngStrike" dirty="0">
                <a:highlight>
                  <a:srgbClr val="FFFF00"/>
                </a:highlight>
              </a:rPr>
              <a:t>Use generic McGinnis equation for biomass ~ crown vol</a:t>
            </a:r>
          </a:p>
          <a:p>
            <a:r>
              <a:rPr lang="en-US" dirty="0">
                <a:highlight>
                  <a:srgbClr val="FFFF00"/>
                </a:highlight>
              </a:rPr>
              <a:t>Assume each pixel with height &gt;0m is an individual plant with diameter = 0.56m and height h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Crown area = 1 pixel = 0.25m2; similar to midpoint crown area in McGinnis of 0.3m2 from midpoint diameter of 0.62m</a:t>
            </a:r>
          </a:p>
          <a:p>
            <a:r>
              <a:rPr lang="en-US" dirty="0">
                <a:highlight>
                  <a:srgbClr val="FFFF00"/>
                </a:highlight>
              </a:rPr>
              <a:t>Use generic McGinnis equation for biomass ~ diameter + height</a:t>
            </a:r>
          </a:p>
          <a:p>
            <a:r>
              <a:rPr lang="en-US" dirty="0"/>
              <a:t>Divide total biomass into the occupied 0.25m strata</a:t>
            </a:r>
          </a:p>
        </p:txBody>
      </p:sp>
    </p:spTree>
    <p:extLst>
      <p:ext uri="{BB962C8B-B14F-4D97-AF65-F5344CB8AC3E}">
        <p14:creationId xmlns:p14="http://schemas.microsoft.com/office/powerpoint/2010/main" val="20851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0DB9-FBD3-6B35-919F-3ED8053E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93435" cy="1325563"/>
          </a:xfrm>
        </p:spPr>
        <p:txBody>
          <a:bodyPr/>
          <a:lstStyle/>
          <a:p>
            <a:r>
              <a:rPr lang="en-US" dirty="0"/>
              <a:t>Understory veg reality check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C7C40-0F0C-0090-332C-30E056CD3D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6A869-894D-9FD0-28FC-FD8506BF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35" y="130655"/>
            <a:ext cx="7560365" cy="659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01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0DB9-FBD3-6B35-919F-3ED8053E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93435" cy="1325563"/>
          </a:xfrm>
        </p:spPr>
        <p:txBody>
          <a:bodyPr/>
          <a:lstStyle/>
          <a:p>
            <a:r>
              <a:rPr lang="en-US" dirty="0"/>
              <a:t>Understory veg reality check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A9D84-953E-E468-8ED2-89BB7B1269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32153" y="0"/>
            <a:ext cx="7859847" cy="6858000"/>
          </a:xfrm>
        </p:spPr>
      </p:pic>
    </p:spTree>
    <p:extLst>
      <p:ext uri="{BB962C8B-B14F-4D97-AF65-F5344CB8AC3E}">
        <p14:creationId xmlns:p14="http://schemas.microsoft.com/office/powerpoint/2010/main" val="372062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197E-9412-2017-7C97-ECD1F2FE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8508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Understory veg reality check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904A33-DF97-6867-00A0-748CA49ED8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23281" y="79513"/>
            <a:ext cx="7768719" cy="6778487"/>
          </a:xfrm>
        </p:spPr>
      </p:pic>
    </p:spTree>
    <p:extLst>
      <p:ext uri="{BB962C8B-B14F-4D97-AF65-F5344CB8AC3E}">
        <p14:creationId xmlns:p14="http://schemas.microsoft.com/office/powerpoint/2010/main" val="3720387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BA35-AC98-224E-6441-A5D3CDE1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and saplings model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4FD1-5DA0-B968-9B39-83481B510B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Neg. Binomial response</a:t>
            </a:r>
          </a:p>
          <a:p>
            <a:pPr lvl="1"/>
            <a:r>
              <a:rPr lang="en-US" dirty="0"/>
              <a:t># of trees in plot</a:t>
            </a:r>
          </a:p>
          <a:p>
            <a:r>
              <a:rPr lang="en-US" dirty="0"/>
              <a:t>Fixed effects</a:t>
            </a:r>
          </a:p>
          <a:p>
            <a:pPr lvl="1"/>
            <a:r>
              <a:rPr lang="en-US" dirty="0"/>
              <a:t>Drought mortality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1709B-7D03-84DD-7EA2-956802740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Simulate total count of trees from a NB with mean scaled to plot size</a:t>
            </a:r>
          </a:p>
          <a:p>
            <a:r>
              <a:rPr lang="en-US" dirty="0"/>
              <a:t>Assign random locations within the simulation space</a:t>
            </a:r>
          </a:p>
          <a:p>
            <a:r>
              <a:rPr lang="en-US" dirty="0"/>
              <a:t>Use Jenkins equations to get biomass in stem, bark, foliage</a:t>
            </a:r>
          </a:p>
          <a:p>
            <a:pPr lvl="1"/>
            <a:r>
              <a:rPr lang="en-US" dirty="0"/>
              <a:t>And branches = total – stem – bark – foliage</a:t>
            </a:r>
          </a:p>
          <a:p>
            <a:r>
              <a:rPr lang="en-US" dirty="0"/>
              <a:t>Use allometric equations to estimate crown radius, </a:t>
            </a:r>
            <a:r>
              <a:rPr lang="en-US" dirty="0" err="1"/>
              <a:t>voxelize</a:t>
            </a:r>
            <a:r>
              <a:rPr lang="en-US" dirty="0"/>
              <a:t> using assumption of conical stem, conical/cylindrical crown</a:t>
            </a:r>
          </a:p>
        </p:txBody>
      </p:sp>
    </p:spTree>
    <p:extLst>
      <p:ext uri="{BB962C8B-B14F-4D97-AF65-F5344CB8AC3E}">
        <p14:creationId xmlns:p14="http://schemas.microsoft.com/office/powerpoint/2010/main" val="72338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660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Pyregence Fuel Models</vt:lpstr>
      <vt:lpstr>Overview</vt:lpstr>
      <vt:lpstr>Litter + Duff description</vt:lpstr>
      <vt:lpstr>Litter+duff reality check</vt:lpstr>
      <vt:lpstr>FWD description</vt:lpstr>
      <vt:lpstr>FWD reality check</vt:lpstr>
      <vt:lpstr>CWD description</vt:lpstr>
      <vt:lpstr>CWD reality check</vt:lpstr>
      <vt:lpstr>Understory veg description</vt:lpstr>
      <vt:lpstr>Understory veg reality check</vt:lpstr>
      <vt:lpstr>Understory veg reality check</vt:lpstr>
      <vt:lpstr>Understory veg reality check</vt:lpstr>
      <vt:lpstr>Trees and saplings model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Pyregence Fuel Models</dc:title>
  <dc:creator>Daniel Foster</dc:creator>
  <cp:lastModifiedBy>Daniel Foster</cp:lastModifiedBy>
  <cp:revision>4</cp:revision>
  <dcterms:created xsi:type="dcterms:W3CDTF">2022-05-04T19:35:16Z</dcterms:created>
  <dcterms:modified xsi:type="dcterms:W3CDTF">2022-05-10T17:27:53Z</dcterms:modified>
</cp:coreProperties>
</file>